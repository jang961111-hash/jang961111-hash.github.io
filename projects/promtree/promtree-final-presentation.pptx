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84" r:id="rId3"/>
    <p:sldId id="285" r:id="rId4"/>
    <p:sldId id="286" r:id="rId5"/>
    <p:sldId id="257" r:id="rId6"/>
    <p:sldId id="287" r:id="rId7"/>
    <p:sldId id="289" r:id="rId8"/>
    <p:sldId id="259" r:id="rId9"/>
    <p:sldId id="288" r:id="rId10"/>
    <p:sldId id="266" r:id="rId11"/>
    <p:sldId id="290" r:id="rId12"/>
    <p:sldId id="291" r:id="rId13"/>
    <p:sldId id="268" r:id="rId14"/>
    <p:sldId id="365" r:id="rId15"/>
    <p:sldId id="364" r:id="rId16"/>
    <p:sldId id="366" r:id="rId17"/>
    <p:sldId id="367" r:id="rId18"/>
    <p:sldId id="356" r:id="rId19"/>
    <p:sldId id="357" r:id="rId20"/>
    <p:sldId id="358" r:id="rId21"/>
    <p:sldId id="360" r:id="rId22"/>
    <p:sldId id="361" r:id="rId23"/>
    <p:sldId id="362" r:id="rId24"/>
    <p:sldId id="359" r:id="rId25"/>
    <p:sldId id="363" r:id="rId26"/>
    <p:sldId id="272" r:id="rId27"/>
    <p:sldId id="274" r:id="rId28"/>
    <p:sldId id="271" r:id="rId29"/>
    <p:sldId id="275" r:id="rId30"/>
  </p:sldIdLst>
  <p:sldSz cx="12192000" cy="6858000"/>
  <p:notesSz cx="6858000" cy="12192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Noto Sans Bold" panose="020B0600000101010101" charset="0"/>
      <p:bold r:id="rId36"/>
    </p:embeddedFont>
    <p:embeddedFont>
      <p:font typeface="Noto Sans KR" panose="020B0200000000000000" pitchFamily="50" charset="-127"/>
      <p:regular r:id="rId37"/>
      <p:bold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h8XtpGfCPOxoZDcpCr5vERlb3t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25C"/>
    <a:srgbClr val="FAFA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5" autoAdjust="0"/>
    <p:restoredTop sz="62582" autoAdjust="0"/>
  </p:normalViewPr>
  <p:slideViewPr>
    <p:cSldViewPr snapToGrid="0">
      <p:cViewPr varScale="1">
        <p:scale>
          <a:sx n="67" d="100"/>
          <a:sy n="67" d="100"/>
        </p:scale>
        <p:origin x="799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건도 이" userId="7add805772b9bc41" providerId="LiveId" clId="{F663F642-8FBA-4DCF-A4BE-C46FB925E42D}"/>
    <pc:docChg chg="undo custSel addSld modSld sldOrd">
      <pc:chgData name="건도 이" userId="7add805772b9bc41" providerId="LiveId" clId="{F663F642-8FBA-4DCF-A4BE-C46FB925E42D}" dt="2026-05-21T01:36:49.401" v="2407" actId="20577"/>
      <pc:docMkLst>
        <pc:docMk/>
      </pc:docMkLst>
      <pc:sldChg chg="modNotesTx">
        <pc:chgData name="건도 이" userId="7add805772b9bc41" providerId="LiveId" clId="{F663F642-8FBA-4DCF-A4BE-C46FB925E42D}" dt="2026-05-21T01:15:00.472" v="1749" actId="20577"/>
        <pc:sldMkLst>
          <pc:docMk/>
          <pc:sldMk cId="0" sldId="257"/>
        </pc:sldMkLst>
      </pc:sldChg>
      <pc:sldChg chg="modSp mod">
        <pc:chgData name="건도 이" userId="7add805772b9bc41" providerId="LiveId" clId="{F663F642-8FBA-4DCF-A4BE-C46FB925E42D}" dt="2026-05-21T01:08:20.882" v="1725" actId="20577"/>
        <pc:sldMkLst>
          <pc:docMk/>
          <pc:sldMk cId="0" sldId="266"/>
        </pc:sldMkLst>
        <pc:spChg chg="mod">
          <ac:chgData name="건도 이" userId="7add805772b9bc41" providerId="LiveId" clId="{F663F642-8FBA-4DCF-A4BE-C46FB925E42D}" dt="2026-05-21T01:08:20.882" v="1725" actId="20577"/>
          <ac:spMkLst>
            <pc:docMk/>
            <pc:sldMk cId="0" sldId="266"/>
            <ac:spMk id="29" creationId="{27B919A8-D5F5-41F9-B65E-85DED4AA2AB8}"/>
          </ac:spMkLst>
        </pc:spChg>
      </pc:sldChg>
      <pc:sldChg chg="modNotesTx">
        <pc:chgData name="건도 이" userId="7add805772b9bc41" providerId="LiveId" clId="{F663F642-8FBA-4DCF-A4BE-C46FB925E42D}" dt="2026-05-21T01:18:42.651" v="1774" actId="20577"/>
        <pc:sldMkLst>
          <pc:docMk/>
          <pc:sldMk cId="0" sldId="268"/>
        </pc:sldMkLst>
      </pc:sldChg>
      <pc:sldChg chg="modSp mod">
        <pc:chgData name="건도 이" userId="7add805772b9bc41" providerId="LiveId" clId="{F663F642-8FBA-4DCF-A4BE-C46FB925E42D}" dt="2026-05-21T01:22:28.296" v="1992" actId="20577"/>
        <pc:sldMkLst>
          <pc:docMk/>
          <pc:sldMk cId="0" sldId="271"/>
        </pc:sldMkLst>
        <pc:spChg chg="mod">
          <ac:chgData name="건도 이" userId="7add805772b9bc41" providerId="LiveId" clId="{F663F642-8FBA-4DCF-A4BE-C46FB925E42D}" dt="2026-05-21T01:22:24.168" v="1978" actId="20577"/>
          <ac:spMkLst>
            <pc:docMk/>
            <pc:sldMk cId="0" sldId="271"/>
            <ac:spMk id="332" creationId="{00000000-0000-0000-0000-000000000000}"/>
          </ac:spMkLst>
        </pc:spChg>
        <pc:spChg chg="mod">
          <ac:chgData name="건도 이" userId="7add805772b9bc41" providerId="LiveId" clId="{F663F642-8FBA-4DCF-A4BE-C46FB925E42D}" dt="2026-05-21T01:22:28.296" v="1992" actId="20577"/>
          <ac:spMkLst>
            <pc:docMk/>
            <pc:sldMk cId="0" sldId="271"/>
            <ac:spMk id="333" creationId="{00000000-0000-0000-0000-000000000000}"/>
          </ac:spMkLst>
        </pc:spChg>
      </pc:sldChg>
      <pc:sldChg chg="addSp delSp modSp mod modNotesTx">
        <pc:chgData name="건도 이" userId="7add805772b9bc41" providerId="LiveId" clId="{F663F642-8FBA-4DCF-A4BE-C46FB925E42D}" dt="2026-05-21T01:25:59.671" v="2117" actId="20577"/>
        <pc:sldMkLst>
          <pc:docMk/>
          <pc:sldMk cId="0" sldId="272"/>
        </pc:sldMkLst>
        <pc:spChg chg="add del mod">
          <ac:chgData name="건도 이" userId="7add805772b9bc41" providerId="LiveId" clId="{F663F642-8FBA-4DCF-A4BE-C46FB925E42D}" dt="2026-05-21T01:25:49.831" v="2102" actId="478"/>
          <ac:spMkLst>
            <pc:docMk/>
            <pc:sldMk cId="0" sldId="272"/>
            <ac:spMk id="45" creationId="{90978245-AC17-4160-908C-AC39A1C04225}"/>
          </ac:spMkLst>
        </pc:spChg>
        <pc:spChg chg="add del mod">
          <ac:chgData name="건도 이" userId="7add805772b9bc41" providerId="LiveId" clId="{F663F642-8FBA-4DCF-A4BE-C46FB925E42D}" dt="2026-05-21T01:25:40.380" v="2098"/>
          <ac:spMkLst>
            <pc:docMk/>
            <pc:sldMk cId="0" sldId="272"/>
            <ac:spMk id="46" creationId="{9FB985B3-302C-40A9-B770-2F375660A53F}"/>
          </ac:spMkLst>
        </pc:spChg>
        <pc:spChg chg="add mod">
          <ac:chgData name="건도 이" userId="7add805772b9bc41" providerId="LiveId" clId="{F663F642-8FBA-4DCF-A4BE-C46FB925E42D}" dt="2026-05-21T01:25:56.188" v="2105" actId="1076"/>
          <ac:spMkLst>
            <pc:docMk/>
            <pc:sldMk cId="0" sldId="272"/>
            <ac:spMk id="47" creationId="{A747273B-BA2E-44DD-BF69-549BEBB8DD61}"/>
          </ac:spMkLst>
        </pc:spChg>
        <pc:spChg chg="add mod">
          <ac:chgData name="건도 이" userId="7add805772b9bc41" providerId="LiveId" clId="{F663F642-8FBA-4DCF-A4BE-C46FB925E42D}" dt="2026-05-21T01:25:59.671" v="2117" actId="20577"/>
          <ac:spMkLst>
            <pc:docMk/>
            <pc:sldMk cId="0" sldId="272"/>
            <ac:spMk id="48" creationId="{5DEE9825-A510-4113-9C92-F1D413867B1A}"/>
          </ac:spMkLst>
        </pc:spChg>
        <pc:picChg chg="mod">
          <ac:chgData name="건도 이" userId="7add805772b9bc41" providerId="LiveId" clId="{F663F642-8FBA-4DCF-A4BE-C46FB925E42D}" dt="2026-05-21T01:25:52.858" v="2104" actId="1076"/>
          <ac:picMkLst>
            <pc:docMk/>
            <pc:sldMk cId="0" sldId="272"/>
            <ac:picMk id="342" creationId="{00000000-0000-0000-0000-000000000000}"/>
          </ac:picMkLst>
        </pc:picChg>
      </pc:sldChg>
      <pc:sldChg chg="modNotesTx">
        <pc:chgData name="건도 이" userId="7add805772b9bc41" providerId="LiveId" clId="{F663F642-8FBA-4DCF-A4BE-C46FB925E42D}" dt="2026-05-21T01:29:03.786" v="2166" actId="20577"/>
        <pc:sldMkLst>
          <pc:docMk/>
          <pc:sldMk cId="0" sldId="274"/>
        </pc:sldMkLst>
      </pc:sldChg>
      <pc:sldChg chg="modSp mod">
        <pc:chgData name="건도 이" userId="7add805772b9bc41" providerId="LiveId" clId="{F663F642-8FBA-4DCF-A4BE-C46FB925E42D}" dt="2026-05-21T01:08:26.071" v="1726"/>
        <pc:sldMkLst>
          <pc:docMk/>
          <pc:sldMk cId="3038978907" sldId="290"/>
        </pc:sldMkLst>
        <pc:spChg chg="mod">
          <ac:chgData name="건도 이" userId="7add805772b9bc41" providerId="LiveId" clId="{F663F642-8FBA-4DCF-A4BE-C46FB925E42D}" dt="2026-05-21T01:08:26.071" v="1726"/>
          <ac:spMkLst>
            <pc:docMk/>
            <pc:sldMk cId="3038978907" sldId="290"/>
            <ac:spMk id="29" creationId="{27B919A8-D5F5-41F9-B65E-85DED4AA2AB8}"/>
          </ac:spMkLst>
        </pc:spChg>
      </pc:sldChg>
      <pc:sldChg chg="modSp mod">
        <pc:chgData name="건도 이" userId="7add805772b9bc41" providerId="LiveId" clId="{F663F642-8FBA-4DCF-A4BE-C46FB925E42D}" dt="2026-05-21T01:08:28.444" v="1727"/>
        <pc:sldMkLst>
          <pc:docMk/>
          <pc:sldMk cId="1216859231" sldId="291"/>
        </pc:sldMkLst>
        <pc:spChg chg="mod">
          <ac:chgData name="건도 이" userId="7add805772b9bc41" providerId="LiveId" clId="{F663F642-8FBA-4DCF-A4BE-C46FB925E42D}" dt="2026-05-21T01:08:28.444" v="1727"/>
          <ac:spMkLst>
            <pc:docMk/>
            <pc:sldMk cId="1216859231" sldId="291"/>
            <ac:spMk id="29" creationId="{27B919A8-D5F5-41F9-B65E-85DED4AA2AB8}"/>
          </ac:spMkLst>
        </pc:spChg>
      </pc:sldChg>
      <pc:sldChg chg="modNotesTx">
        <pc:chgData name="건도 이" userId="7add805772b9bc41" providerId="LiveId" clId="{F663F642-8FBA-4DCF-A4BE-C46FB925E42D}" dt="2026-05-21T01:36:49.401" v="2407" actId="20577"/>
        <pc:sldMkLst>
          <pc:docMk/>
          <pc:sldMk cId="3923173034" sldId="359"/>
        </pc:sldMkLst>
      </pc:sldChg>
      <pc:sldChg chg="modNotesTx">
        <pc:chgData name="건도 이" userId="7add805772b9bc41" providerId="LiveId" clId="{F663F642-8FBA-4DCF-A4BE-C46FB925E42D}" dt="2026-05-21T01:19:58.018" v="1969" actId="20577"/>
        <pc:sldMkLst>
          <pc:docMk/>
          <pc:sldMk cId="2202850531" sldId="360"/>
        </pc:sldMkLst>
      </pc:sldChg>
      <pc:sldChg chg="addSp delSp modSp add mod ord modAnim modNotesTx">
        <pc:chgData name="건도 이" userId="7add805772b9bc41" providerId="LiveId" clId="{F663F642-8FBA-4DCF-A4BE-C46FB925E42D}" dt="2026-05-21T00:56:17.425" v="1126" actId="14861"/>
        <pc:sldMkLst>
          <pc:docMk/>
          <pc:sldMk cId="4273409927" sldId="364"/>
        </pc:sldMkLst>
        <pc:spChg chg="mod">
          <ac:chgData name="건도 이" userId="7add805772b9bc41" providerId="LiveId" clId="{F663F642-8FBA-4DCF-A4BE-C46FB925E42D}" dt="2026-05-21T00:38:49.439" v="102" actId="20577"/>
          <ac:spMkLst>
            <pc:docMk/>
            <pc:sldMk cId="4273409927" sldId="364"/>
            <ac:spMk id="29" creationId="{27B919A8-D5F5-41F9-B65E-85DED4AA2AB8}"/>
          </ac:spMkLst>
        </pc:spChg>
        <pc:spChg chg="del">
          <ac:chgData name="건도 이" userId="7add805772b9bc41" providerId="LiveId" clId="{F663F642-8FBA-4DCF-A4BE-C46FB925E42D}" dt="2026-05-21T00:42:35.854" v="201" actId="478"/>
          <ac:spMkLst>
            <pc:docMk/>
            <pc:sldMk cId="4273409927" sldId="364"/>
            <ac:spMk id="159" creationId="{00000000-0000-0000-0000-000000000000}"/>
          </ac:spMkLst>
        </pc:spChg>
        <pc:spChg chg="del">
          <ac:chgData name="건도 이" userId="7add805772b9bc41" providerId="LiveId" clId="{F663F642-8FBA-4DCF-A4BE-C46FB925E42D}" dt="2026-05-21T00:42:35.854" v="201" actId="478"/>
          <ac:spMkLst>
            <pc:docMk/>
            <pc:sldMk cId="4273409927" sldId="364"/>
            <ac:spMk id="161" creationId="{00000000-0000-0000-0000-000000000000}"/>
          </ac:spMkLst>
        </pc:spChg>
        <pc:spChg chg="del">
          <ac:chgData name="건도 이" userId="7add805772b9bc41" providerId="LiveId" clId="{F663F642-8FBA-4DCF-A4BE-C46FB925E42D}" dt="2026-05-21T00:42:35.854" v="201" actId="478"/>
          <ac:spMkLst>
            <pc:docMk/>
            <pc:sldMk cId="4273409927" sldId="364"/>
            <ac:spMk id="163" creationId="{00000000-0000-0000-0000-000000000000}"/>
          </ac:spMkLst>
        </pc:spChg>
        <pc:picChg chg="add del mod">
          <ac:chgData name="건도 이" userId="7add805772b9bc41" providerId="LiveId" clId="{F663F642-8FBA-4DCF-A4BE-C46FB925E42D}" dt="2026-05-21T00:42:29.180" v="198" actId="478"/>
          <ac:picMkLst>
            <pc:docMk/>
            <pc:sldMk cId="4273409927" sldId="364"/>
            <ac:picMk id="3" creationId="{2CCCE5C0-451F-4296-8BC0-19D8261EA531}"/>
          </ac:picMkLst>
        </pc:picChg>
        <pc:picChg chg="add mod">
          <ac:chgData name="건도 이" userId="7add805772b9bc41" providerId="LiveId" clId="{F663F642-8FBA-4DCF-A4BE-C46FB925E42D}" dt="2026-05-21T00:56:10.315" v="1120" actId="14861"/>
          <ac:picMkLst>
            <pc:docMk/>
            <pc:sldMk cId="4273409927" sldId="364"/>
            <ac:picMk id="5" creationId="{1D7EE84C-40A0-47C0-AF54-7B6CA0AE1007}"/>
          </ac:picMkLst>
        </pc:picChg>
        <pc:picChg chg="del">
          <ac:chgData name="건도 이" userId="7add805772b9bc41" providerId="LiveId" clId="{F663F642-8FBA-4DCF-A4BE-C46FB925E42D}" dt="2026-05-21T00:38:23.504" v="3" actId="478"/>
          <ac:picMkLst>
            <pc:docMk/>
            <pc:sldMk cId="4273409927" sldId="364"/>
            <ac:picMk id="6" creationId="{F8824E3B-C834-4C36-9BAD-181C97002469}"/>
          </ac:picMkLst>
        </pc:picChg>
        <pc:picChg chg="add mod">
          <ac:chgData name="건도 이" userId="7add805772b9bc41" providerId="LiveId" clId="{F663F642-8FBA-4DCF-A4BE-C46FB925E42D}" dt="2026-05-21T00:56:14.683" v="1125" actId="14861"/>
          <ac:picMkLst>
            <pc:docMk/>
            <pc:sldMk cId="4273409927" sldId="364"/>
            <ac:picMk id="8" creationId="{C39EE39D-82D0-446D-81D0-DA4567B99A0A}"/>
          </ac:picMkLst>
        </pc:picChg>
        <pc:picChg chg="add mod">
          <ac:chgData name="건도 이" userId="7add805772b9bc41" providerId="LiveId" clId="{F663F642-8FBA-4DCF-A4BE-C46FB925E42D}" dt="2026-05-21T00:56:17.425" v="1126" actId="14861"/>
          <ac:picMkLst>
            <pc:docMk/>
            <pc:sldMk cId="4273409927" sldId="364"/>
            <ac:picMk id="10" creationId="{3AE79D21-9711-4BEA-9406-35BC9631675D}"/>
          </ac:picMkLst>
        </pc:picChg>
      </pc:sldChg>
      <pc:sldChg chg="delSp modSp add mod ord">
        <pc:chgData name="건도 이" userId="7add805772b9bc41" providerId="LiveId" clId="{F663F642-8FBA-4DCF-A4BE-C46FB925E42D}" dt="2026-05-21T00:56:21.845" v="1127" actId="14861"/>
        <pc:sldMkLst>
          <pc:docMk/>
          <pc:sldMk cId="3695124254" sldId="365"/>
        </pc:sldMkLst>
        <pc:spChg chg="del">
          <ac:chgData name="건도 이" userId="7add805772b9bc41" providerId="LiveId" clId="{F663F642-8FBA-4DCF-A4BE-C46FB925E42D}" dt="2026-05-21T00:45:31.606" v="673" actId="478"/>
          <ac:spMkLst>
            <pc:docMk/>
            <pc:sldMk cId="3695124254" sldId="365"/>
            <ac:spMk id="159" creationId="{00000000-0000-0000-0000-000000000000}"/>
          </ac:spMkLst>
        </pc:spChg>
        <pc:spChg chg="del">
          <ac:chgData name="건도 이" userId="7add805772b9bc41" providerId="LiveId" clId="{F663F642-8FBA-4DCF-A4BE-C46FB925E42D}" dt="2026-05-21T00:45:31.606" v="673" actId="478"/>
          <ac:spMkLst>
            <pc:docMk/>
            <pc:sldMk cId="3695124254" sldId="365"/>
            <ac:spMk id="161" creationId="{00000000-0000-0000-0000-000000000000}"/>
          </ac:spMkLst>
        </pc:spChg>
        <pc:spChg chg="del">
          <ac:chgData name="건도 이" userId="7add805772b9bc41" providerId="LiveId" clId="{F663F642-8FBA-4DCF-A4BE-C46FB925E42D}" dt="2026-05-21T00:45:31.606" v="673" actId="478"/>
          <ac:spMkLst>
            <pc:docMk/>
            <pc:sldMk cId="3695124254" sldId="365"/>
            <ac:spMk id="163" creationId="{00000000-0000-0000-0000-000000000000}"/>
          </ac:spMkLst>
        </pc:spChg>
        <pc:picChg chg="mod">
          <ac:chgData name="건도 이" userId="7add805772b9bc41" providerId="LiveId" clId="{F663F642-8FBA-4DCF-A4BE-C46FB925E42D}" dt="2026-05-21T00:56:21.845" v="1127" actId="14861"/>
          <ac:picMkLst>
            <pc:docMk/>
            <pc:sldMk cId="3695124254" sldId="365"/>
            <ac:picMk id="3" creationId="{2CCCE5C0-451F-4296-8BC0-19D8261EA531}"/>
          </ac:picMkLst>
        </pc:picChg>
        <pc:picChg chg="del">
          <ac:chgData name="건도 이" userId="7add805772b9bc41" providerId="LiveId" clId="{F663F642-8FBA-4DCF-A4BE-C46FB925E42D}" dt="2026-05-21T00:44:23.771" v="670" actId="478"/>
          <ac:picMkLst>
            <pc:docMk/>
            <pc:sldMk cId="3695124254" sldId="365"/>
            <ac:picMk id="5" creationId="{1D7EE84C-40A0-47C0-AF54-7B6CA0AE1007}"/>
          </ac:picMkLst>
        </pc:picChg>
      </pc:sldChg>
      <pc:sldChg chg="addSp delSp modSp add mod delAnim modNotesTx">
        <pc:chgData name="건도 이" userId="7add805772b9bc41" providerId="LiveId" clId="{F663F642-8FBA-4DCF-A4BE-C46FB925E42D}" dt="2026-05-21T01:00:40.473" v="1518" actId="20577"/>
        <pc:sldMkLst>
          <pc:docMk/>
          <pc:sldMk cId="3368354573" sldId="366"/>
        </pc:sldMkLst>
        <pc:spChg chg="mod">
          <ac:chgData name="건도 이" userId="7add805772b9bc41" providerId="LiveId" clId="{F663F642-8FBA-4DCF-A4BE-C46FB925E42D}" dt="2026-05-21T00:57:46.584" v="1292" actId="20577"/>
          <ac:spMkLst>
            <pc:docMk/>
            <pc:sldMk cId="3368354573" sldId="366"/>
            <ac:spMk id="29" creationId="{27B919A8-D5F5-41F9-B65E-85DED4AA2AB8}"/>
          </ac:spMkLst>
        </pc:spChg>
        <pc:picChg chg="add del mod">
          <ac:chgData name="건도 이" userId="7add805772b9bc41" providerId="LiveId" clId="{F663F642-8FBA-4DCF-A4BE-C46FB925E42D}" dt="2026-05-21T01:00:01.227" v="1318" actId="478"/>
          <ac:picMkLst>
            <pc:docMk/>
            <pc:sldMk cId="3368354573" sldId="366"/>
            <ac:picMk id="3" creationId="{883A7E28-15DC-4712-8FD4-349B41EC3413}"/>
          </ac:picMkLst>
        </pc:picChg>
        <pc:picChg chg="del">
          <ac:chgData name="건도 이" userId="7add805772b9bc41" providerId="LiveId" clId="{F663F642-8FBA-4DCF-A4BE-C46FB925E42D}" dt="2026-05-21T00:55:45.277" v="1109" actId="478"/>
          <ac:picMkLst>
            <pc:docMk/>
            <pc:sldMk cId="3368354573" sldId="366"/>
            <ac:picMk id="5" creationId="{1D7EE84C-40A0-47C0-AF54-7B6CA0AE1007}"/>
          </ac:picMkLst>
        </pc:picChg>
        <pc:picChg chg="add del mod">
          <ac:chgData name="건도 이" userId="7add805772b9bc41" providerId="LiveId" clId="{F663F642-8FBA-4DCF-A4BE-C46FB925E42D}" dt="2026-05-21T01:00:01.923" v="1319" actId="478"/>
          <ac:picMkLst>
            <pc:docMk/>
            <pc:sldMk cId="3368354573" sldId="366"/>
            <ac:picMk id="6" creationId="{A0595CAE-C544-45E2-BE3B-B37AF97C7CB2}"/>
          </ac:picMkLst>
        </pc:picChg>
        <pc:picChg chg="del mod">
          <ac:chgData name="건도 이" userId="7add805772b9bc41" providerId="LiveId" clId="{F663F642-8FBA-4DCF-A4BE-C46FB925E42D}" dt="2026-05-21T00:55:45.858" v="1111" actId="478"/>
          <ac:picMkLst>
            <pc:docMk/>
            <pc:sldMk cId="3368354573" sldId="366"/>
            <ac:picMk id="8" creationId="{C39EE39D-82D0-446D-81D0-DA4567B99A0A}"/>
          </ac:picMkLst>
        </pc:picChg>
        <pc:picChg chg="add mod">
          <ac:chgData name="건도 이" userId="7add805772b9bc41" providerId="LiveId" clId="{F663F642-8FBA-4DCF-A4BE-C46FB925E42D}" dt="2026-05-21T01:00:14.612" v="1325" actId="14861"/>
          <ac:picMkLst>
            <pc:docMk/>
            <pc:sldMk cId="3368354573" sldId="366"/>
            <ac:picMk id="9" creationId="{F5AAAAC3-6359-41F8-8D3F-8A6528B5EBE1}"/>
          </ac:picMkLst>
        </pc:picChg>
        <pc:picChg chg="del">
          <ac:chgData name="건도 이" userId="7add805772b9bc41" providerId="LiveId" clId="{F663F642-8FBA-4DCF-A4BE-C46FB925E42D}" dt="2026-05-21T00:55:46.253" v="1112" actId="478"/>
          <ac:picMkLst>
            <pc:docMk/>
            <pc:sldMk cId="3368354573" sldId="366"/>
            <ac:picMk id="10" creationId="{3AE79D21-9711-4BEA-9406-35BC9631675D}"/>
          </ac:picMkLst>
        </pc:picChg>
      </pc:sldChg>
      <pc:sldChg chg="add modNotesTx">
        <pc:chgData name="건도 이" userId="7add805772b9bc41" providerId="LiveId" clId="{F663F642-8FBA-4DCF-A4BE-C46FB925E42D}" dt="2026-05-21T01:00:59.495" v="1685" actId="20577"/>
        <pc:sldMkLst>
          <pc:docMk/>
          <pc:sldMk cId="3683294230" sldId="36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Noto Sans KR" panose="020B0200000000000000" pitchFamily="50" charset="-127"/>
        <a:ea typeface="Noto Sans KR" panose="020B0200000000000000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cs typeface="Malgun Gothic"/>
                <a:sym typeface="Malgun Gothic"/>
              </a:rPr>
              <a:t>안녕하세요</a:t>
            </a:r>
            <a:r>
              <a:rPr lang="en-US" sz="1200" b="0" i="0" u="none" strike="noStrike" cap="none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sym typeface="Malgun Gothic"/>
              </a:rPr>
              <a:t>AI </a:t>
            </a:r>
            <a:r>
              <a:rPr lang="ko-KR" altLang="en-US" sz="1200" b="0" i="0" u="none" strike="noStrike" cap="none" dirty="0">
                <a:solidFill>
                  <a:schemeClr val="dk1"/>
                </a:solidFill>
                <a:sym typeface="Malgun Gothic"/>
              </a:rPr>
              <a:t>노하우를 만들고 판매하는 플랫폼</a:t>
            </a:r>
            <a:r>
              <a:rPr lang="en-US" altLang="ko-KR" sz="1200" b="0" i="0" u="none" strike="noStrike" cap="none" dirty="0">
                <a:solidFill>
                  <a:schemeClr val="dk1"/>
                </a:solidFill>
                <a:sym typeface="Malgun Gothic"/>
              </a:rPr>
              <a:t>~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프롬트리의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발표자 이건도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입니다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AI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는 누구나 프롬프트만 넣고 클릭만 하면 될 정도로 쉬워졌습니다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66" name="Google Shape;66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086979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그래서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AI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가 발전함에 따라 좋은 결과를 얻기도 쉬워졌습니다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lang="ko-KR" alt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66" name="Google Shape;66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3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188015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그런데 그 좋은 결과물이 단순하게 예뻐 보이는 결과물은 아니셨나요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?</a:t>
            </a:r>
            <a:endParaRPr lang="ko-KR" alt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그래서 그것이 여러분들이 원하는 결과이셨나요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?</a:t>
            </a:r>
          </a:p>
        </p:txBody>
      </p:sp>
      <p:sp>
        <p:nvSpPr>
          <p:cNvPr id="66" name="Google Shape;66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4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218047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" name="Google Shape;18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그래서 우리는 원하는 결과를 얻기 위해 여러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가지툴을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써왔습니다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범용적인 모델인 </a:t>
            </a:r>
            <a:r>
              <a:rPr lang="en-US" altLang="ko-KR" sz="1200" dirty="0" err="1">
                <a:solidFill>
                  <a:schemeClr val="dk1"/>
                </a:solidFill>
                <a:cs typeface="Malgun Gothic"/>
                <a:sym typeface="Malgun Gothic"/>
              </a:rPr>
              <a:t>chatgpt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en-US" altLang="ko-KR" sz="1200" dirty="0" err="1">
                <a:solidFill>
                  <a:schemeClr val="dk1"/>
                </a:solidFill>
                <a:cs typeface="Malgun Gothic"/>
                <a:sym typeface="Malgun Gothic"/>
              </a:rPr>
              <a:t>gemini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en-US" altLang="ko-KR" sz="1200" dirty="0" err="1">
                <a:solidFill>
                  <a:schemeClr val="dk1"/>
                </a:solidFill>
                <a:cs typeface="Malgun Gothic"/>
                <a:sym typeface="Malgun Gothic"/>
              </a:rPr>
              <a:t>claude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는 실제로 작업물을 생성해주지만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편집하는데는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힘든 점이 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---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또한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AI Agent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인 </a:t>
            </a:r>
            <a:r>
              <a:rPr lang="en-US" altLang="ko-KR" sz="1200" dirty="0" err="1">
                <a:solidFill>
                  <a:schemeClr val="dk1"/>
                </a:solidFill>
                <a:cs typeface="Malgun Gothic"/>
                <a:sym typeface="Malgun Gothic"/>
              </a:rPr>
              <a:t>Genspark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와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마누스는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생성 및 편집을 할 수 있지만 템플릿이 제한되어 있고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이걸 위해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구독까지하고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다시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크레딧을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쓰기에는 금액적으로 부담이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되서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접근하기 쉽지 않습니다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---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그리고 외주업체인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크몽같은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경우는 아직 서비스가 미흡한 점이 많고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prompt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base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같은 프롬프트 판매 업체는 생성만 하고 작업까지의 흐름은 이어지지 않는다는 단점이 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19" name="Google Shape;19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5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" name="Google Shape;65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또한 </a:t>
            </a:r>
            <a:r>
              <a:rPr lang="en-US" altLang="ko-KR" sz="2000" dirty="0"/>
              <a:t>AI</a:t>
            </a:r>
            <a:r>
              <a:rPr lang="ko-KR" altLang="en-US" sz="2000" dirty="0"/>
              <a:t>를 잘 쓰는 사람들의 노하우는 유튜브</a:t>
            </a:r>
            <a:r>
              <a:rPr lang="en-US" altLang="ko-KR" sz="2000" dirty="0"/>
              <a:t>, </a:t>
            </a:r>
            <a:r>
              <a:rPr lang="ko-KR" altLang="en-US" sz="2000" dirty="0"/>
              <a:t>인스타</a:t>
            </a:r>
            <a:r>
              <a:rPr lang="en-US" altLang="ko-KR" sz="2000" dirty="0"/>
              <a:t>, </a:t>
            </a:r>
            <a:r>
              <a:rPr lang="ko-KR" altLang="en-US" sz="2000" dirty="0"/>
              <a:t>블로그</a:t>
            </a:r>
            <a:r>
              <a:rPr lang="en-US" altLang="ko-KR" sz="2000" dirty="0"/>
              <a:t>, </a:t>
            </a:r>
            <a:r>
              <a:rPr lang="ko-KR" altLang="en-US" sz="2000" dirty="0"/>
              <a:t>개인 경험 속에 흩어져 있습니다</a:t>
            </a:r>
            <a:r>
              <a:rPr lang="en-US" altLang="ko-KR" sz="2000" dirty="0"/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그래서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크리에이터들은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프롬프트에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대한 사용법이나 가이드를 제공해주나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수익화 시키기도 어려울 뿐더러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사람들은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일일히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찾아보기도 쉽진 않습니다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66" name="Google Shape;66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6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2607704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 err="1"/>
              <a:t>프롬트리는</a:t>
            </a:r>
            <a:r>
              <a:rPr lang="ko-KR" altLang="en-US" sz="2000" dirty="0"/>
              <a:t> 그 노하우를 바로 실행 가능한 워크플로우 상품으로 바꿉니다</a:t>
            </a:r>
            <a:r>
              <a:rPr lang="en-US" altLang="ko-KR" sz="2000" dirty="0"/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7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14106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하나의 플랫폼에서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AI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관련 노하우를 누구나 판매 할 수 있고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AI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노하우를 활용할 수 있는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프롬트리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---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영상으로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확인해보시죠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8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9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98612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프롬트리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의 영상에서 확인했듯이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사용자는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마켓에서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원하는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템플릿을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고르고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endParaRPr dirty="0"/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10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필요한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값,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즉 생성자가 등록해 놓은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슬릇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고대왕국과 노인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만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입력하고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endParaRPr dirty="0"/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11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378467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바로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결과물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인 고대왕국의 노인을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확인하실수가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단순하게 사용자는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2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단어만 입력해도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생성자의 노하우에 따라 원하는 결과를 얻을 수 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즉,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프롬트리는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단순하게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프롬프트를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판매하는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것이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아니라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AI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노하우를 사용자가 쉽게 쓰게 할 수 있는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플랫폼입니다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12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349499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6" name="Google Shape;196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프롬트리에서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중요한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건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사용자만이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아닙니다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크리에이터도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중요합니다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기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존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프롬프트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판매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방식은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한 번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구매하면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원문이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그대로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노출되고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쉽게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복사되거나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재판매될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수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있습니다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그래서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프롬트리는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슬롯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기반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템플릿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구조를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사용합니다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프롬프트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전체를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공개하지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않고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사용자가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입력해야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하는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부분만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열어둡니다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그래서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사용자는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쉽게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쓸 수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있고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판매자는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자신의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노하우를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지키면서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판매할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수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있습니다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197" name="Google Shape;197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13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저희는 이미지와 더불어 똑똑한 문서를 만들려고 합니다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14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176998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하네스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기법과 비슷하게 작동하게 만들었습니다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lang="en-US" sz="1200" dirty="0">
              <a:solidFill>
                <a:schemeClr val="dk1"/>
              </a:solidFill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문서에 역할과 지침을 부여하고</a:t>
            </a:r>
            <a:endParaRPr lang="en-US" sz="1200" dirty="0">
              <a:solidFill>
                <a:schemeClr val="dk1"/>
              </a:solidFill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sym typeface="Malgun Gothic"/>
              </a:rPr>
              <a:t>---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각각의 객체에도 지침을 부여할 수 있게 됩니다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sym typeface="Malgun Gothic"/>
              </a:rPr>
              <a:t>---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또한 역할을 부여하면 대화를 통해 화면을 수정할 수 있게 됩니다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.</a:t>
            </a:r>
            <a:endParaRPr lang="en-US" sz="1200" dirty="0">
              <a:solidFill>
                <a:schemeClr val="dk1"/>
              </a:solidFill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또한 역할을 하나하나 입력 하기 귀찮을 분들을 위해서도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,</a:t>
            </a: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 페이지의 모든 내용을 읽고 </a:t>
            </a:r>
            <a:r>
              <a:rPr lang="ko-KR" altLang="en-US" sz="1200" dirty="0" err="1">
                <a:solidFill>
                  <a:schemeClr val="dk1"/>
                </a:solidFill>
                <a:sym typeface="Malgun Gothic"/>
              </a:rPr>
              <a:t>판단할수</a:t>
            </a: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 있게 만들었습니다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다만 </a:t>
            </a:r>
            <a:r>
              <a:rPr lang="ko-KR" altLang="en-US" sz="1200" dirty="0" err="1">
                <a:solidFill>
                  <a:schemeClr val="dk1"/>
                </a:solidFill>
                <a:sym typeface="Malgun Gothic"/>
              </a:rPr>
              <a:t>이부붑은</a:t>
            </a: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 미리 내용이 채워져 있어야 해서 정확도는 떨어질 수 밖에 없습니다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.</a:t>
            </a:r>
            <a:endParaRPr dirty="0"/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15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00683173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협업 기능을 도입해 사용자 간 소통과 협업을 강화했습니다</a:t>
            </a:r>
            <a:endParaRPr lang="en-US" altLang="ko-KR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저희는 커뮤니티를 단순 글을 쓰는 곳이 아닌 내가 만든 작업물을 공유하고 도움을 받을 수 있게 하였습니다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16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424820860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" name="Google Shape;137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그래서 다음과 같이 초대를 받고 받아서</a:t>
            </a:r>
            <a:endParaRPr lang="en-US" altLang="ko-KR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피드백을 보내거나</a:t>
            </a:r>
            <a:r>
              <a:rPr lang="en-US" altLang="ko-KR" dirty="0"/>
              <a:t>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같이 문서를 수정할 수 있는 공간을 제공합니다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38" name="Google Shape;138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17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6797509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다음으로는 저희의 수익구조에 대해 소개해드리겠습니다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18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097564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저희는 서비스 내의 모든 기능은 무료화를 하였습니다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19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293840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따라서 비즈니스 모델은 엄청 간단합니다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판매자들이 우리 서비스에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AI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문서라던지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이미지 관련 제작 노하우를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올려주시면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소비자가 필요한 내용을 검색해서 구매 합니다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20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783666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따라서 첫 번째는 템플릿 판매 수수료입니다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lang="ko-KR" altLang="en-US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크리에이터가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만든 템플릿이 판매될 때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15%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수수료가 발생합니다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15%</a:t>
            </a: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를 책정한 기준으로는 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20%</a:t>
            </a: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의 수수료를 가져가는 프롬프트베이스에서 </a:t>
            </a:r>
            <a:r>
              <a:rPr lang="ko-KR" altLang="en-US" sz="1200" dirty="0" err="1">
                <a:solidFill>
                  <a:schemeClr val="dk1"/>
                </a:solidFill>
                <a:sym typeface="Malgun Gothic"/>
              </a:rPr>
              <a:t>조금더</a:t>
            </a: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 유리한점을 </a:t>
            </a:r>
            <a:r>
              <a:rPr lang="ko-KR" altLang="en-US" sz="1200" dirty="0" err="1">
                <a:solidFill>
                  <a:schemeClr val="dk1"/>
                </a:solidFill>
                <a:sym typeface="Malgun Gothic"/>
              </a:rPr>
              <a:t>가져가기위해</a:t>
            </a: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 설정했습니다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.</a:t>
            </a:r>
            <a:endParaRPr lang="ko-KR" altLang="en-US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두 번째는 실행 기반 크레딧 모델입니다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저희는 강제된 구독형 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BM</a:t>
            </a: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에 대한 피로감이 많다는 것을 확인하여</a:t>
            </a:r>
            <a:r>
              <a:rPr lang="en-US" altLang="ko-KR" sz="1200" dirty="0">
                <a:solidFill>
                  <a:schemeClr val="dk1"/>
                </a:solidFill>
                <a:sym typeface="Malgun Gothic"/>
              </a:rPr>
              <a:t>,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sz="1200" dirty="0">
                <a:solidFill>
                  <a:schemeClr val="dk1"/>
                </a:solidFill>
                <a:sym typeface="Malgun Gothic"/>
              </a:rPr>
              <a:t>자신의 상황에 맞춰 이용할 수 있는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크레딧 모델을 채택하였습니다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lang="ko-KR" altLang="en-US" sz="12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21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2877282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그리고 </a:t>
            </a:r>
            <a:r>
              <a:rPr lang="ko-KR" altLang="en-US" sz="2000" dirty="0"/>
              <a:t>우리는 단순히 프롬프트를 판매하는 데 그치지 않고</a:t>
            </a:r>
            <a:r>
              <a:rPr lang="en-US" altLang="ko-KR" sz="2000" dirty="0"/>
              <a:t>, </a:t>
            </a:r>
            <a:r>
              <a:rPr lang="ko-KR" altLang="en-US" sz="2000" dirty="0"/>
              <a:t>이후 내부 </a:t>
            </a:r>
            <a:r>
              <a:rPr lang="ko-KR" altLang="en-US" sz="2000" dirty="0" err="1"/>
              <a:t>프롬프팅과</a:t>
            </a:r>
            <a:r>
              <a:rPr lang="ko-KR" altLang="en-US" sz="2000" dirty="0"/>
              <a:t> 이미지 생성 과정에서도 토큰이 계속 사용되도록 설계해 재사용 구조를 만들었습니다</a:t>
            </a:r>
            <a:r>
              <a:rPr lang="en-US" altLang="ko-KR" sz="2000" dirty="0"/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22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1471082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따라서 저희의 성장 전략은 다음과 같습니다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23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8623253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프롬프트 시장은</a:t>
            </a: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en-US" altLang="ko-KR" sz="1400" dirty="0"/>
              <a:t>2024</a:t>
            </a:r>
            <a:r>
              <a:rPr lang="ko-KR" altLang="en-US" sz="1400" dirty="0"/>
              <a:t>년 약 </a:t>
            </a:r>
            <a:r>
              <a:rPr lang="en-US" altLang="ko-KR" sz="1400" dirty="0"/>
              <a:t>13</a:t>
            </a:r>
            <a:r>
              <a:rPr lang="ko-KR" altLang="en-US" sz="1400" dirty="0"/>
              <a:t>억 달러 규모에서</a:t>
            </a:r>
            <a:br>
              <a:rPr lang="ko-KR" altLang="en-US" sz="1400" dirty="0"/>
            </a:br>
            <a:r>
              <a:rPr lang="ko-KR" altLang="en-US" sz="1400" dirty="0"/>
              <a:t>향후 약 </a:t>
            </a:r>
            <a:r>
              <a:rPr lang="en-US" altLang="ko-KR" sz="1400" dirty="0"/>
              <a:t>140</a:t>
            </a:r>
            <a:r>
              <a:rPr lang="ko-KR" altLang="en-US" sz="1400" dirty="0"/>
              <a:t>억 달러까지 성장할 것으로 예측되며</a:t>
            </a:r>
            <a:r>
              <a:rPr lang="en-US" altLang="ko-KR" sz="1400" dirty="0"/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sz="1600" dirty="0"/>
              <a:t>약 </a:t>
            </a:r>
            <a:r>
              <a:rPr lang="en-US" altLang="ko-KR" sz="1600" dirty="0"/>
              <a:t>11</a:t>
            </a:r>
            <a:r>
              <a:rPr lang="ko-KR" altLang="en-US" sz="1600" dirty="0"/>
              <a:t>배 빠르게 성장하는 시장이라는 점을 확인할 수 있었습니다</a:t>
            </a:r>
            <a:r>
              <a:rPr lang="en-US" altLang="ko-KR" sz="1600" dirty="0"/>
              <a:t>.</a:t>
            </a:r>
            <a:endParaRPr lang="en-US" altLang="ko-KR" sz="14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또한 알파테스트를 약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10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명이서 진행 하였을 때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컨텐츠만 많아진다면 활용할 것 같다는 의견이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80%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였습니다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노하우를 판매하는 플랫폼 시장은 아직 전무하고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현재는 플랫폼이라는 한계로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0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원이지만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포기하지 않고 끝까지 간다면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 err="1">
                <a:solidFill>
                  <a:schemeClr val="dk1"/>
                </a:solidFill>
                <a:cs typeface="Malgun Gothic"/>
                <a:sym typeface="Malgun Gothic"/>
              </a:rPr>
              <a:t>Ssafy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를 기반으로 모두의 창업부터 시작하여 정상궤도에는 오를 것이라고 확신하고 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24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4442712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그래서 저희는 초기 시장 진입 로드맵을 다음과 같이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안정적으로 특정 고객만 타겟으로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잡은후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빠르게 퍼져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나갈수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있도록 하여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AI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영상과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AI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음악등도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서비스를 하여 제품 고도화와 웹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앱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글로벌 등 채널 다각화를 통해 시장 지배력을 빠르게 확대해 나갈 계획입니다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현재 이 페이지를 보면서 글이 너무 많아 잘 읽히지 않고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어떤 소리를 하는지 잘 파악이 안되시지 않았나요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저희는 이 문제를 해결하기 위해 우리 서비스를 이용해볼 생각입니다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5" name="Google Shape;35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25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150676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다음으로는 저희의 주요 기술 스택입니다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FastAPI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와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Next.js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기반으로 개발하였습니다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캔버스는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fabric.js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라이브러리를 사용하여 개발하였습니다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그리고 세션분석은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GA4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를 이용하며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현재는 초기 단계에서 확인할 수 있었던 내용은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현재 이용자의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95%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가 로그인도 하기전에 이탈 한다는 것을 확인하여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로그인을 하지 않아도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기본 서비스를 체험할 수 있게 하는 방향으로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수정중에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로컬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모델등을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활용하면 장기적으로 보면 수익적인 측면에서는 유리하겠지만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그렇게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될경우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지금당장은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더 많은 개발인력이 필요하게 되고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우리가 개발하는 로컬 모델의 발전 속도보다 대형 회사들의 발전속도가 훨씬 빨라 우리의 모델은 크게 의미가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없어질것이라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판단하여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저희는 </a:t>
            </a:r>
            <a:r>
              <a:rPr lang="en-US" altLang="ko-KR" sz="1200" dirty="0" err="1">
                <a:solidFill>
                  <a:schemeClr val="dk1"/>
                </a:solidFill>
                <a:cs typeface="Malgun Gothic"/>
                <a:sym typeface="Malgun Gothic"/>
              </a:rPr>
              <a:t>openAI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en-US" altLang="ko-KR" sz="1200" dirty="0" err="1">
                <a:solidFill>
                  <a:schemeClr val="dk1"/>
                </a:solidFill>
                <a:cs typeface="Malgun Gothic"/>
                <a:sym typeface="Malgun Gothic"/>
              </a:rPr>
              <a:t>Gemni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등의 최신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API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를 활용하여 계속 서비스를 </a:t>
            </a:r>
            <a:r>
              <a:rPr lang="ko-KR" alt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이어나갈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계획입니다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39" name="Google Shape;339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26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저희는 저는 여러 기업들을 다니며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3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년간의 데이터를 분석을 하였고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en-US" altLang="ko-KR" sz="1200" dirty="0" err="1">
                <a:solidFill>
                  <a:schemeClr val="dk1"/>
                </a:solidFill>
                <a:cs typeface="Malgun Gothic"/>
                <a:sym typeface="Malgun Gothic"/>
              </a:rPr>
              <a:t>gcp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에서 진행한 사업부에서 우수한 성적을 가진 인원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그리고 사업을 하며 현장 능력을 키운 인원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1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명과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우수한 개발자 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3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명이 있는 팀으로 꾸준한 성장을 하고 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424" name="Google Shape;424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27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7" name="Google Shape;327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AI는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계속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강력해지고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있습니다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하지만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그에 따라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사람들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의 노하우도 점점 쌓이고 있습니다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사람들이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AI를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몰라도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원하는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결과를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바로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얻을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수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있도록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크리에이터가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자신의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노하우를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지키면서도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,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그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노하우로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수익을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 만</a:t>
            </a: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들어 제공할 수 있도록</a:t>
            </a:r>
            <a:endParaRPr lang="en-US" altLang="ko-KR"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200" dirty="0">
                <a:solidFill>
                  <a:schemeClr val="dk1"/>
                </a:solidFill>
                <a:cs typeface="Malgun Gothic"/>
                <a:sym typeface="Malgun Gothic"/>
              </a:rPr>
              <a:t>저희는 최선을 다할 것 입니다</a:t>
            </a:r>
            <a:r>
              <a:rPr lang="en-US" altLang="ko-KR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이상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, </a:t>
            </a: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프롬트리였습니다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solidFill>
                  <a:schemeClr val="dk1"/>
                </a:solidFill>
                <a:cs typeface="Malgun Gothic"/>
                <a:sym typeface="Malgun Gothic"/>
              </a:rPr>
              <a:t>감사합니다</a:t>
            </a:r>
            <a:r>
              <a:rPr lang="en-US" sz="1200" dirty="0">
                <a:solidFill>
                  <a:schemeClr val="dk1"/>
                </a:solidFill>
                <a:cs typeface="Malgun Gothic"/>
                <a:sym typeface="Malgun Gothic"/>
              </a:rPr>
              <a:t>.</a:t>
            </a: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328" name="Google Shape;328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28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2" name="Google Shape;462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cs typeface="Malgun Gothic"/>
              <a:sym typeface="Malgun Gothic"/>
            </a:endParaRPr>
          </a:p>
        </p:txBody>
      </p:sp>
      <p:sp>
        <p:nvSpPr>
          <p:cNvPr id="463" name="Google Shape;463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Malgun Gothic"/>
                <a:sym typeface="Malgun Gothic"/>
              </a:rPr>
              <a:t>29</a:t>
            </a:fld>
            <a:endParaRPr sz="1800" dirty="0">
              <a:solidFill>
                <a:schemeClr val="dk1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microsoft.com/office/2007/relationships/hdphoto" Target="../media/hdphoto2.wdp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microsoft.com/office/2007/relationships/hdphoto" Target="../media/hdphoto3.wdp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microsoft.com/office/2007/relationships/hdphoto" Target="../media/hdphoto5.wd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microsoft.com/office/2007/relationships/hdphoto" Target="../media/hdphoto4.wdp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jp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0.xml.rels><?xml version="1.0" encoding="UTF-8" standalone="yes"?>
<Relationships xmlns="http://schemas.openxmlformats.org/package/2006/relationships"><Relationship Id="rId8" Type="http://schemas.microsoft.com/office/2007/relationships/hdphoto" Target="../media/hdphoto5.wdp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microsoft.com/office/2007/relationships/hdphoto" Target="../media/hdphoto4.wdp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jpeg"/><Relationship Id="rId3" Type="http://schemas.openxmlformats.org/officeDocument/2006/relationships/image" Target="../media/image1.png"/><Relationship Id="rId7" Type="http://schemas.openxmlformats.org/officeDocument/2006/relationships/image" Target="../media/image54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jpeg"/><Relationship Id="rId5" Type="http://schemas.openxmlformats.org/officeDocument/2006/relationships/image" Target="../media/image52.jpeg"/><Relationship Id="rId4" Type="http://schemas.openxmlformats.org/officeDocument/2006/relationships/image" Target="../media/image51.jpeg"/><Relationship Id="rId9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1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1"/>
          <p:cNvSpPr txBox="1"/>
          <p:nvPr/>
        </p:nvSpPr>
        <p:spPr>
          <a:xfrm>
            <a:off x="1333195" y="3613219"/>
            <a:ext cx="9525305" cy="11914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 algn="ctr">
              <a:buNone/>
            </a:pPr>
            <a:r>
              <a:rPr lang="en-US" altLang="ko-KR" sz="4000" b="1" kern="0" spc="-112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</a:t>
            </a:r>
            <a:r>
              <a:rPr lang="en-US" altLang="ko-KR" sz="4000" b="1" kern="0" spc="-112" dirty="0">
                <a:solidFill>
                  <a:srgbClr val="0262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</a:t>
            </a:r>
            <a:r>
              <a:rPr lang="ko-KR" altLang="en-US" sz="4000" b="1" kern="0" spc="-112" dirty="0">
                <a:solidFill>
                  <a:srgbClr val="0262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노하우</a:t>
            </a:r>
            <a:r>
              <a:rPr lang="ko-KR" altLang="en-US" sz="4000" b="1" kern="0" spc="-112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</a:t>
            </a:r>
          </a:p>
          <a:p>
            <a:pPr marL="0" indent="0" algn="ctr">
              <a:buNone/>
            </a:pPr>
            <a:r>
              <a:rPr lang="ko-KR" altLang="en-US" sz="4000" b="1" kern="0" spc="-112" dirty="0">
                <a:solidFill>
                  <a:srgbClr val="11111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만들고 판매하는 </a:t>
            </a:r>
            <a:r>
              <a:rPr lang="ko-KR" altLang="en-US" sz="4000" b="1" kern="0" spc="-112" dirty="0">
                <a:solidFill>
                  <a:srgbClr val="02625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플랫폼</a:t>
            </a:r>
            <a:endParaRPr lang="en-US" altLang="ko-KR" sz="4000" b="1" kern="0" spc="-112" dirty="0">
              <a:solidFill>
                <a:srgbClr val="02625C"/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14" name="Google Shape;14;p1"/>
          <p:cNvSpPr txBox="1"/>
          <p:nvPr/>
        </p:nvSpPr>
        <p:spPr>
          <a:xfrm>
            <a:off x="3238805" y="6096305"/>
            <a:ext cx="5715000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Noto Sans KR"/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Noto Sans KR"/>
                <a:ea typeface="Noto Sans KR"/>
                <a:cs typeface="Noto Sans KR"/>
                <a:sym typeface="Noto Sans KR"/>
              </a:rPr>
              <a:t> SSAFY 최종발표 | </a:t>
            </a:r>
            <a:r>
              <a:rPr lang="en-US" sz="1800" b="1" i="0" u="none" strike="noStrike" cap="none">
                <a:solidFill>
                  <a:srgbClr val="444444"/>
                </a:solidFill>
                <a:latin typeface="Noto Sans KR"/>
                <a:ea typeface="Noto Sans KR"/>
                <a:cs typeface="Noto Sans KR"/>
                <a:sym typeface="Noto Sans KR"/>
              </a:rPr>
              <a:t>F107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71730" y="1497146"/>
            <a:ext cx="4648234" cy="14382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01. PROBLEM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72;p8">
            <a:extLst>
              <a:ext uri="{FF2B5EF4-FFF2-40B4-BE49-F238E27FC236}">
                <a16:creationId xmlns:a16="http://schemas.microsoft.com/office/drawing/2014/main" id="{EAC17736-5173-4187-963D-179AF0177A35}"/>
              </a:ext>
            </a:extLst>
          </p:cNvPr>
          <p:cNvSpPr txBox="1"/>
          <p:nvPr/>
        </p:nvSpPr>
        <p:spPr>
          <a:xfrm>
            <a:off x="761695" y="1333195"/>
            <a:ext cx="10668305" cy="139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en-US" sz="4000" b="1" dirty="0" err="1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AI는</a:t>
            </a:r>
            <a:r>
              <a:rPr 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쉬워졌습니다．</a:t>
            </a:r>
            <a:endParaRPr lang="en-US" altLang="ko-KR" sz="4000" b="1" dirty="0">
              <a:solidFill>
                <a:srgbClr val="11111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Calibri"/>
                <a:sym typeface="Noto Sans KR"/>
              </a:rPr>
              <a:t>좋은 결과를 얻기도 쉬워졌습니다．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4045EDB5-6EDF-42C8-A5F9-CDDDD4438D5D}"/>
              </a:ext>
            </a:extLst>
          </p:cNvPr>
          <p:cNvSpPr/>
          <p:nvPr/>
        </p:nvSpPr>
        <p:spPr>
          <a:xfrm>
            <a:off x="761695" y="1690564"/>
            <a:ext cx="7594905" cy="1201479"/>
          </a:xfrm>
          <a:prstGeom prst="right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2707A62-FF9D-4EBD-9F2D-971A1D3F6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6641" y1="76465" x2="56641" y2="76465"/>
                        <a14:foregroundMark x1="76270" y1="40723" x2="76270" y2="40723"/>
                        <a14:foregroundMark x1="77051" y1="31250" x2="77051" y2="31250"/>
                        <a14:foregroundMark x1="23730" y1="31641" x2="23730" y2="31641"/>
                        <a14:foregroundMark x1="24414" y1="40137" x2="24414" y2="401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59147" y="3249412"/>
            <a:ext cx="2794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273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01. PROBLEM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72;p8">
            <a:extLst>
              <a:ext uri="{FF2B5EF4-FFF2-40B4-BE49-F238E27FC236}">
                <a16:creationId xmlns:a16="http://schemas.microsoft.com/office/drawing/2014/main" id="{EAC17736-5173-4187-963D-179AF0177A35}"/>
              </a:ext>
            </a:extLst>
          </p:cNvPr>
          <p:cNvSpPr txBox="1"/>
          <p:nvPr/>
        </p:nvSpPr>
        <p:spPr>
          <a:xfrm>
            <a:off x="761695" y="1333195"/>
            <a:ext cx="10668305" cy="139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en-US" sz="4000" b="1" dirty="0" err="1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AI는</a:t>
            </a:r>
            <a:r>
              <a:rPr 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쉬워졌습니다．</a:t>
            </a:r>
            <a:endParaRPr lang="en-US" altLang="ko-KR" sz="4000" b="1" dirty="0">
              <a:solidFill>
                <a:srgbClr val="11111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Calibri"/>
                <a:sym typeface="Noto Sans KR"/>
              </a:rPr>
              <a:t>좋은 결과를 얻기도 쉬워졌습니다．</a:t>
            </a:r>
            <a:endParaRPr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2707A62-FF9D-4EBD-9F2D-971A1D3F6F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56641" y1="76465" x2="56641" y2="76465"/>
                        <a14:foregroundMark x1="76270" y1="40723" x2="76270" y2="40723"/>
                        <a14:foregroundMark x1="77051" y1="31250" x2="77051" y2="31250"/>
                        <a14:foregroundMark x1="23730" y1="31641" x2="23730" y2="31641"/>
                        <a14:foregroundMark x1="24414" y1="40137" x2="24414" y2="4013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9147" y="3237890"/>
            <a:ext cx="2794000" cy="2794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61D2ADD-4034-4B77-A902-7D36DAE8D5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7" y="2723997"/>
            <a:ext cx="3911600" cy="391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920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01. PROBLEM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72;p8">
            <a:extLst>
              <a:ext uri="{FF2B5EF4-FFF2-40B4-BE49-F238E27FC236}">
                <a16:creationId xmlns:a16="http://schemas.microsoft.com/office/drawing/2014/main" id="{EAC17736-5173-4187-963D-179AF0177A35}"/>
              </a:ext>
            </a:extLst>
          </p:cNvPr>
          <p:cNvSpPr txBox="1"/>
          <p:nvPr/>
        </p:nvSpPr>
        <p:spPr>
          <a:xfrm>
            <a:off x="761695" y="1333195"/>
            <a:ext cx="10668305" cy="1390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원하는 결과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?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endParaRPr lang="en-US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7C69B5D-F43A-4CDE-8324-EFE68C8F3E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98747" y="2028596"/>
            <a:ext cx="4394200" cy="439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91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517890A-F8DE-4281-8F2F-0B77BD2A9948}"/>
              </a:ext>
            </a:extLst>
          </p:cNvPr>
          <p:cNvSpPr/>
          <p:nvPr/>
        </p:nvSpPr>
        <p:spPr>
          <a:xfrm>
            <a:off x="965199" y="1644650"/>
            <a:ext cx="2514600" cy="345019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2625C"/>
            </a:solidFill>
          </a:ln>
          <a:effectLst>
            <a:outerShdw blurRad="101600" dist="762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DC6B7BE5-96F0-4F9D-85EE-717C78C3A40F}"/>
              </a:ext>
            </a:extLst>
          </p:cNvPr>
          <p:cNvSpPr/>
          <p:nvPr/>
        </p:nvSpPr>
        <p:spPr>
          <a:xfrm>
            <a:off x="4902200" y="1644650"/>
            <a:ext cx="2514600" cy="345019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2625C"/>
            </a:solidFill>
          </a:ln>
          <a:effectLst>
            <a:outerShdw blurRad="101600" dist="762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B2E23CDD-6235-48A1-9753-9F7C7ABC8E6E}"/>
              </a:ext>
            </a:extLst>
          </p:cNvPr>
          <p:cNvSpPr/>
          <p:nvPr/>
        </p:nvSpPr>
        <p:spPr>
          <a:xfrm>
            <a:off x="8839200" y="1644650"/>
            <a:ext cx="2514600" cy="3450190"/>
          </a:xfrm>
          <a:prstGeom prst="roundRect">
            <a:avLst/>
          </a:prstGeom>
          <a:solidFill>
            <a:schemeClr val="bg1"/>
          </a:solidFill>
          <a:ln w="57150">
            <a:solidFill>
              <a:srgbClr val="02625C"/>
            </a:solidFill>
          </a:ln>
          <a:effectLst>
            <a:outerShdw blurRad="101600" dist="762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27" name="Google Shape;72;p8">
            <a:extLst>
              <a:ext uri="{FF2B5EF4-FFF2-40B4-BE49-F238E27FC236}">
                <a16:creationId xmlns:a16="http://schemas.microsoft.com/office/drawing/2014/main" id="{8B177564-9644-46A6-A4B7-D413D13DA48D}"/>
              </a:ext>
            </a:extLst>
          </p:cNvPr>
          <p:cNvSpPr txBox="1"/>
          <p:nvPr/>
        </p:nvSpPr>
        <p:spPr>
          <a:xfrm>
            <a:off x="1231746" y="1977881"/>
            <a:ext cx="1981505" cy="343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endParaRPr lang="en-US" altLang="ko-KR" sz="3000" b="1" dirty="0">
              <a:solidFill>
                <a:srgbClr val="11111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0" name="Google Shape;71;p8">
            <a:extLst>
              <a:ext uri="{FF2B5EF4-FFF2-40B4-BE49-F238E27FC236}">
                <a16:creationId xmlns:a16="http://schemas.microsoft.com/office/drawing/2014/main" id="{D27F0D62-869F-4675-9B8C-79068E3145FB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01. PROBLEM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자유형: 도형 31">
            <a:extLst>
              <a:ext uri="{FF2B5EF4-FFF2-40B4-BE49-F238E27FC236}">
                <a16:creationId xmlns:a16="http://schemas.microsoft.com/office/drawing/2014/main" id="{C57FBE32-754F-445C-BCE3-81BA10DA42A6}"/>
              </a:ext>
            </a:extLst>
          </p:cNvPr>
          <p:cNvSpPr/>
          <p:nvPr/>
        </p:nvSpPr>
        <p:spPr>
          <a:xfrm>
            <a:off x="947659" y="1644648"/>
            <a:ext cx="2514600" cy="1009650"/>
          </a:xfrm>
          <a:custGeom>
            <a:avLst/>
            <a:gdLst>
              <a:gd name="connsiteX0" fmla="*/ 310936 w 2514600"/>
              <a:gd name="connsiteY0" fmla="*/ 0 h 1009650"/>
              <a:gd name="connsiteX1" fmla="*/ 2203665 w 2514600"/>
              <a:gd name="connsiteY1" fmla="*/ 0 h 1009650"/>
              <a:gd name="connsiteX2" fmla="*/ 2258628 w 2514600"/>
              <a:gd name="connsiteY2" fmla="*/ 17062 h 1009650"/>
              <a:gd name="connsiteX3" fmla="*/ 2514600 w 2514600"/>
              <a:gd name="connsiteY3" fmla="*/ 403234 h 1009650"/>
              <a:gd name="connsiteX4" fmla="*/ 2514600 w 2514600"/>
              <a:gd name="connsiteY4" fmla="*/ 1009650 h 1009650"/>
              <a:gd name="connsiteX5" fmla="*/ 0 w 2514600"/>
              <a:gd name="connsiteY5" fmla="*/ 1009650 h 1009650"/>
              <a:gd name="connsiteX6" fmla="*/ 0 w 2514600"/>
              <a:gd name="connsiteY6" fmla="*/ 403234 h 1009650"/>
              <a:gd name="connsiteX7" fmla="*/ 255972 w 2514600"/>
              <a:gd name="connsiteY7" fmla="*/ 17062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1009650">
                <a:moveTo>
                  <a:pt x="310936" y="0"/>
                </a:moveTo>
                <a:lnTo>
                  <a:pt x="2203665" y="0"/>
                </a:lnTo>
                <a:lnTo>
                  <a:pt x="2258628" y="17062"/>
                </a:lnTo>
                <a:cubicBezTo>
                  <a:pt x="2409052" y="80686"/>
                  <a:pt x="2514600" y="229634"/>
                  <a:pt x="2514600" y="403234"/>
                </a:cubicBezTo>
                <a:lnTo>
                  <a:pt x="2514600" y="1009650"/>
                </a:lnTo>
                <a:lnTo>
                  <a:pt x="0" y="1009650"/>
                </a:lnTo>
                <a:lnTo>
                  <a:pt x="0" y="403234"/>
                </a:lnTo>
                <a:cubicBezTo>
                  <a:pt x="0" y="229634"/>
                  <a:pt x="105548" y="80686"/>
                  <a:pt x="255972" y="17062"/>
                </a:cubicBezTo>
                <a:close/>
              </a:path>
            </a:pathLst>
          </a:custGeom>
          <a:solidFill>
            <a:srgbClr val="02625C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범용적 모델</a:t>
            </a:r>
            <a:endParaRPr lang="en-US" altLang="ko-KR" sz="2500" b="1" dirty="0">
              <a:solidFill>
                <a:srgbClr val="11111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33" name="자유형: 도형 32">
            <a:extLst>
              <a:ext uri="{FF2B5EF4-FFF2-40B4-BE49-F238E27FC236}">
                <a16:creationId xmlns:a16="http://schemas.microsoft.com/office/drawing/2014/main" id="{F3FC9E0B-B605-4798-BD4A-FCD24597A1D3}"/>
              </a:ext>
            </a:extLst>
          </p:cNvPr>
          <p:cNvSpPr/>
          <p:nvPr/>
        </p:nvSpPr>
        <p:spPr>
          <a:xfrm>
            <a:off x="4902200" y="1644648"/>
            <a:ext cx="2514600" cy="1009650"/>
          </a:xfrm>
          <a:custGeom>
            <a:avLst/>
            <a:gdLst>
              <a:gd name="connsiteX0" fmla="*/ 310936 w 2514600"/>
              <a:gd name="connsiteY0" fmla="*/ 0 h 1009650"/>
              <a:gd name="connsiteX1" fmla="*/ 2203665 w 2514600"/>
              <a:gd name="connsiteY1" fmla="*/ 0 h 1009650"/>
              <a:gd name="connsiteX2" fmla="*/ 2258628 w 2514600"/>
              <a:gd name="connsiteY2" fmla="*/ 17062 h 1009650"/>
              <a:gd name="connsiteX3" fmla="*/ 2514600 w 2514600"/>
              <a:gd name="connsiteY3" fmla="*/ 403234 h 1009650"/>
              <a:gd name="connsiteX4" fmla="*/ 2514600 w 2514600"/>
              <a:gd name="connsiteY4" fmla="*/ 1009650 h 1009650"/>
              <a:gd name="connsiteX5" fmla="*/ 0 w 2514600"/>
              <a:gd name="connsiteY5" fmla="*/ 1009650 h 1009650"/>
              <a:gd name="connsiteX6" fmla="*/ 0 w 2514600"/>
              <a:gd name="connsiteY6" fmla="*/ 403234 h 1009650"/>
              <a:gd name="connsiteX7" fmla="*/ 255972 w 2514600"/>
              <a:gd name="connsiteY7" fmla="*/ 17062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1009650">
                <a:moveTo>
                  <a:pt x="310936" y="0"/>
                </a:moveTo>
                <a:lnTo>
                  <a:pt x="2203665" y="0"/>
                </a:lnTo>
                <a:lnTo>
                  <a:pt x="2258628" y="17062"/>
                </a:lnTo>
                <a:cubicBezTo>
                  <a:pt x="2409052" y="80686"/>
                  <a:pt x="2514600" y="229634"/>
                  <a:pt x="2514600" y="403234"/>
                </a:cubicBezTo>
                <a:lnTo>
                  <a:pt x="2514600" y="1009650"/>
                </a:lnTo>
                <a:lnTo>
                  <a:pt x="0" y="1009650"/>
                </a:lnTo>
                <a:lnTo>
                  <a:pt x="0" y="403234"/>
                </a:lnTo>
                <a:cubicBezTo>
                  <a:pt x="0" y="229634"/>
                  <a:pt x="105548" y="80686"/>
                  <a:pt x="255972" y="17062"/>
                </a:cubicBezTo>
                <a:close/>
              </a:path>
            </a:pathLst>
          </a:custGeom>
          <a:solidFill>
            <a:srgbClr val="02625C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en-US" altLang="ko-KR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AI Agent</a:t>
            </a:r>
          </a:p>
        </p:txBody>
      </p:sp>
      <p:sp>
        <p:nvSpPr>
          <p:cNvPr id="34" name="자유형: 도형 33">
            <a:extLst>
              <a:ext uri="{FF2B5EF4-FFF2-40B4-BE49-F238E27FC236}">
                <a16:creationId xmlns:a16="http://schemas.microsoft.com/office/drawing/2014/main" id="{94A7420D-6580-4CC7-9E3D-22FDD26D253F}"/>
              </a:ext>
            </a:extLst>
          </p:cNvPr>
          <p:cNvSpPr/>
          <p:nvPr/>
        </p:nvSpPr>
        <p:spPr>
          <a:xfrm>
            <a:off x="8839200" y="1644648"/>
            <a:ext cx="2514600" cy="1009650"/>
          </a:xfrm>
          <a:custGeom>
            <a:avLst/>
            <a:gdLst>
              <a:gd name="connsiteX0" fmla="*/ 310936 w 2514600"/>
              <a:gd name="connsiteY0" fmla="*/ 0 h 1009650"/>
              <a:gd name="connsiteX1" fmla="*/ 2203665 w 2514600"/>
              <a:gd name="connsiteY1" fmla="*/ 0 h 1009650"/>
              <a:gd name="connsiteX2" fmla="*/ 2258628 w 2514600"/>
              <a:gd name="connsiteY2" fmla="*/ 17062 h 1009650"/>
              <a:gd name="connsiteX3" fmla="*/ 2514600 w 2514600"/>
              <a:gd name="connsiteY3" fmla="*/ 403234 h 1009650"/>
              <a:gd name="connsiteX4" fmla="*/ 2514600 w 2514600"/>
              <a:gd name="connsiteY4" fmla="*/ 1009650 h 1009650"/>
              <a:gd name="connsiteX5" fmla="*/ 0 w 2514600"/>
              <a:gd name="connsiteY5" fmla="*/ 1009650 h 1009650"/>
              <a:gd name="connsiteX6" fmla="*/ 0 w 2514600"/>
              <a:gd name="connsiteY6" fmla="*/ 403234 h 1009650"/>
              <a:gd name="connsiteX7" fmla="*/ 255972 w 2514600"/>
              <a:gd name="connsiteY7" fmla="*/ 17062 h 1009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4600" h="1009650">
                <a:moveTo>
                  <a:pt x="310936" y="0"/>
                </a:moveTo>
                <a:lnTo>
                  <a:pt x="2203665" y="0"/>
                </a:lnTo>
                <a:lnTo>
                  <a:pt x="2258628" y="17062"/>
                </a:lnTo>
                <a:cubicBezTo>
                  <a:pt x="2409052" y="80686"/>
                  <a:pt x="2514600" y="229634"/>
                  <a:pt x="2514600" y="403234"/>
                </a:cubicBezTo>
                <a:lnTo>
                  <a:pt x="2514600" y="1009650"/>
                </a:lnTo>
                <a:lnTo>
                  <a:pt x="0" y="1009650"/>
                </a:lnTo>
                <a:lnTo>
                  <a:pt x="0" y="403234"/>
                </a:lnTo>
                <a:cubicBezTo>
                  <a:pt x="0" y="229634"/>
                  <a:pt x="105548" y="80686"/>
                  <a:pt x="255972" y="17062"/>
                </a:cubicBezTo>
                <a:close/>
              </a:path>
            </a:pathLst>
          </a:custGeom>
          <a:solidFill>
            <a:srgbClr val="02625C">
              <a:alpha val="20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ko-KR" altLang="en-US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외주 </a:t>
            </a:r>
            <a:r>
              <a:rPr lang="en-US" altLang="ko-KR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/ </a:t>
            </a:r>
            <a:r>
              <a:rPr lang="ko-KR" altLang="en-US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마켓</a:t>
            </a:r>
            <a:endParaRPr lang="en-US" altLang="ko-KR" sz="2500" b="1" dirty="0">
              <a:solidFill>
                <a:srgbClr val="11111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32C96D36-7F26-4AFA-9D40-CEF9D88C95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719" y="3607198"/>
            <a:ext cx="476990" cy="476990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BF60112C-D4A7-44D2-8337-CA150E8E1B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2654" y="2823974"/>
            <a:ext cx="477054" cy="47705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2A81DD46-4D97-4B5B-AF60-F4CE58959B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580" y="4377421"/>
            <a:ext cx="553128" cy="54325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2BB4D79A-E853-4524-852A-ADDFC8272ECC}"/>
              </a:ext>
            </a:extLst>
          </p:cNvPr>
          <p:cNvSpPr txBox="1"/>
          <p:nvPr/>
        </p:nvSpPr>
        <p:spPr>
          <a:xfrm>
            <a:off x="1842459" y="2860929"/>
            <a:ext cx="1202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Chatgpt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44AD37-DEC2-4B40-A793-4BB312A6D767}"/>
              </a:ext>
            </a:extLst>
          </p:cNvPr>
          <p:cNvSpPr txBox="1"/>
          <p:nvPr/>
        </p:nvSpPr>
        <p:spPr>
          <a:xfrm>
            <a:off x="1931957" y="3633893"/>
            <a:ext cx="10871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Gemini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4B3AA7-7844-4BD3-8BDE-0BD28FCE7EEE}"/>
              </a:ext>
            </a:extLst>
          </p:cNvPr>
          <p:cNvSpPr txBox="1"/>
          <p:nvPr/>
        </p:nvSpPr>
        <p:spPr>
          <a:xfrm>
            <a:off x="1919253" y="4410519"/>
            <a:ext cx="106311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Claude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036F730-6603-4BFE-8DF6-18782AA6C22D}"/>
              </a:ext>
            </a:extLst>
          </p:cNvPr>
          <p:cNvSpPr txBox="1"/>
          <p:nvPr/>
        </p:nvSpPr>
        <p:spPr>
          <a:xfrm>
            <a:off x="1377850" y="5477433"/>
            <a:ext cx="1963999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작업물</a:t>
            </a:r>
            <a:r>
              <a:rPr lang="ko-KR" altLang="en-US" sz="2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 생성 </a:t>
            </a:r>
            <a:r>
              <a:rPr lang="en-US" altLang="ko-KR" sz="2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x</a:t>
            </a:r>
            <a:endParaRPr lang="ko-KR" altLang="en-US" sz="2500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이등변 삼각형 44">
            <a:extLst>
              <a:ext uri="{FF2B5EF4-FFF2-40B4-BE49-F238E27FC236}">
                <a16:creationId xmlns:a16="http://schemas.microsoft.com/office/drawing/2014/main" id="{B7D4A922-48E6-47BE-9681-BD4FD0155205}"/>
              </a:ext>
            </a:extLst>
          </p:cNvPr>
          <p:cNvSpPr/>
          <p:nvPr/>
        </p:nvSpPr>
        <p:spPr>
          <a:xfrm rot="5400000">
            <a:off x="1028387" y="5607198"/>
            <a:ext cx="269142" cy="233916"/>
          </a:xfrm>
          <a:prstGeom prst="triangle">
            <a:avLst/>
          </a:prstGeom>
          <a:solidFill>
            <a:srgbClr val="02625C"/>
          </a:solidFill>
          <a:ln>
            <a:solidFill>
              <a:srgbClr val="026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BD436D6B-B6E7-45F3-8B19-0149A814E9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0897" y="3100292"/>
            <a:ext cx="508311" cy="494021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0935D9A2-0ED1-47A9-9CEA-D24D65F255E8}"/>
              </a:ext>
            </a:extLst>
          </p:cNvPr>
          <p:cNvSpPr txBox="1"/>
          <p:nvPr/>
        </p:nvSpPr>
        <p:spPr>
          <a:xfrm>
            <a:off x="5773517" y="3137247"/>
            <a:ext cx="13949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Genspark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29827EB-A07A-4D11-9A10-8E76DCC9E16A}"/>
              </a:ext>
            </a:extLst>
          </p:cNvPr>
          <p:cNvSpPr txBox="1"/>
          <p:nvPr/>
        </p:nvSpPr>
        <p:spPr>
          <a:xfrm>
            <a:off x="5350162" y="5477433"/>
            <a:ext cx="17315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비싼 구독료</a:t>
            </a:r>
          </a:p>
        </p:txBody>
      </p:sp>
      <p:sp>
        <p:nvSpPr>
          <p:cNvPr id="49" name="이등변 삼각형 48">
            <a:extLst>
              <a:ext uri="{FF2B5EF4-FFF2-40B4-BE49-F238E27FC236}">
                <a16:creationId xmlns:a16="http://schemas.microsoft.com/office/drawing/2014/main" id="{51EE5B23-9CF6-41B2-8B92-809060E0288F}"/>
              </a:ext>
            </a:extLst>
          </p:cNvPr>
          <p:cNvSpPr/>
          <p:nvPr/>
        </p:nvSpPr>
        <p:spPr>
          <a:xfrm rot="5400000">
            <a:off x="5000699" y="5607198"/>
            <a:ext cx="269142" cy="233916"/>
          </a:xfrm>
          <a:prstGeom prst="triangle">
            <a:avLst/>
          </a:prstGeom>
          <a:solidFill>
            <a:srgbClr val="02625C"/>
          </a:solidFill>
          <a:ln>
            <a:solidFill>
              <a:srgbClr val="026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59FBE44F-0EFE-4665-8D84-B6F69909E2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52228" y="4100288"/>
            <a:ext cx="486980" cy="563448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BADB7FC1-4BFF-49D5-AB59-5CED1B4BF7FD}"/>
              </a:ext>
            </a:extLst>
          </p:cNvPr>
          <p:cNvSpPr txBox="1"/>
          <p:nvPr/>
        </p:nvSpPr>
        <p:spPr>
          <a:xfrm>
            <a:off x="5773517" y="4143485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manus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53" name="그림 52">
            <a:extLst>
              <a:ext uri="{FF2B5EF4-FFF2-40B4-BE49-F238E27FC236}">
                <a16:creationId xmlns:a16="http://schemas.microsoft.com/office/drawing/2014/main" id="{D8EF1226-C762-470B-BECE-348605367D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6362" y="2991555"/>
            <a:ext cx="604666" cy="575963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4538A57A-D1CD-4A4C-BA9E-4B5A77C43372}"/>
              </a:ext>
            </a:extLst>
          </p:cNvPr>
          <p:cNvSpPr txBox="1"/>
          <p:nvPr/>
        </p:nvSpPr>
        <p:spPr>
          <a:xfrm>
            <a:off x="9709214" y="3044137"/>
            <a:ext cx="6559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크몽</a:t>
            </a:r>
            <a:endParaRPr lang="ko-KR" altLang="en-US" sz="20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C1DB459-7329-4D55-BBBD-115418121DE9}"/>
              </a:ext>
            </a:extLst>
          </p:cNvPr>
          <p:cNvSpPr txBox="1"/>
          <p:nvPr/>
        </p:nvSpPr>
        <p:spPr>
          <a:xfrm>
            <a:off x="9321128" y="5477433"/>
            <a:ext cx="202651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2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미흡한 서비스</a:t>
            </a:r>
          </a:p>
        </p:txBody>
      </p:sp>
      <p:sp>
        <p:nvSpPr>
          <p:cNvPr id="56" name="이등변 삼각형 55">
            <a:extLst>
              <a:ext uri="{FF2B5EF4-FFF2-40B4-BE49-F238E27FC236}">
                <a16:creationId xmlns:a16="http://schemas.microsoft.com/office/drawing/2014/main" id="{B648D87E-2313-4719-9A53-37250DD95601}"/>
              </a:ext>
            </a:extLst>
          </p:cNvPr>
          <p:cNvSpPr/>
          <p:nvPr/>
        </p:nvSpPr>
        <p:spPr>
          <a:xfrm rot="5400000">
            <a:off x="8971665" y="5607198"/>
            <a:ext cx="269142" cy="233916"/>
          </a:xfrm>
          <a:prstGeom prst="triangle">
            <a:avLst/>
          </a:prstGeom>
          <a:solidFill>
            <a:srgbClr val="02625C"/>
          </a:solidFill>
          <a:ln>
            <a:solidFill>
              <a:srgbClr val="026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pic>
        <p:nvPicPr>
          <p:cNvPr id="58" name="그림 57">
            <a:extLst>
              <a:ext uri="{FF2B5EF4-FFF2-40B4-BE49-F238E27FC236}">
                <a16:creationId xmlns:a16="http://schemas.microsoft.com/office/drawing/2014/main" id="{1ECBD865-002C-4A72-BAEC-90E591D95E1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63776" y="4100288"/>
            <a:ext cx="616458" cy="620461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33BB3E01-FAA6-4408-A06A-EF8972438BC2}"/>
              </a:ext>
            </a:extLst>
          </p:cNvPr>
          <p:cNvSpPr txBox="1"/>
          <p:nvPr/>
        </p:nvSpPr>
        <p:spPr>
          <a:xfrm>
            <a:off x="9672458" y="4225852"/>
            <a:ext cx="1595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800" b="1" dirty="0" err="1">
                <a:latin typeface="Noto Sans KR" panose="020B0200000000000000" pitchFamily="50" charset="-127"/>
                <a:ea typeface="Noto Sans KR" panose="020B0200000000000000" pitchFamily="50" charset="-127"/>
              </a:rPr>
              <a:t>PromptBase</a:t>
            </a:r>
            <a:endParaRPr lang="ko-KR" altLang="en-US" sz="1800" b="1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8174BF5-A3B5-4862-94DE-B098C4A622A9}"/>
              </a:ext>
            </a:extLst>
          </p:cNvPr>
          <p:cNvSpPr txBox="1"/>
          <p:nvPr/>
        </p:nvSpPr>
        <p:spPr>
          <a:xfrm>
            <a:off x="9313820" y="6106849"/>
            <a:ext cx="1436612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단순 생성</a:t>
            </a:r>
          </a:p>
        </p:txBody>
      </p:sp>
      <p:sp>
        <p:nvSpPr>
          <p:cNvPr id="63" name="이등변 삼각형 62">
            <a:extLst>
              <a:ext uri="{FF2B5EF4-FFF2-40B4-BE49-F238E27FC236}">
                <a16:creationId xmlns:a16="http://schemas.microsoft.com/office/drawing/2014/main" id="{81779D03-F3B5-4195-89DE-8382CB4E8A9D}"/>
              </a:ext>
            </a:extLst>
          </p:cNvPr>
          <p:cNvSpPr/>
          <p:nvPr/>
        </p:nvSpPr>
        <p:spPr>
          <a:xfrm rot="5400000">
            <a:off x="8964357" y="6236614"/>
            <a:ext cx="269142" cy="233916"/>
          </a:xfrm>
          <a:prstGeom prst="triangle">
            <a:avLst/>
          </a:prstGeom>
          <a:solidFill>
            <a:srgbClr val="02625C"/>
          </a:solidFill>
          <a:ln>
            <a:solidFill>
              <a:srgbClr val="026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B514136-49E7-4DEC-89B0-F29D90682310}"/>
              </a:ext>
            </a:extLst>
          </p:cNvPr>
          <p:cNvSpPr txBox="1"/>
          <p:nvPr/>
        </p:nvSpPr>
        <p:spPr>
          <a:xfrm>
            <a:off x="5350162" y="6106849"/>
            <a:ext cx="202651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dirty="0">
                <a:latin typeface="Noto Sans KR" panose="020B0200000000000000" pitchFamily="50" charset="-127"/>
                <a:ea typeface="Noto Sans KR" panose="020B0200000000000000" pitchFamily="50" charset="-127"/>
              </a:rPr>
              <a:t>제한된 템플릿</a:t>
            </a:r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1B6EEA7C-8C9D-4A4D-8BD5-E8F25C045226}"/>
              </a:ext>
            </a:extLst>
          </p:cNvPr>
          <p:cNvSpPr/>
          <p:nvPr/>
        </p:nvSpPr>
        <p:spPr>
          <a:xfrm rot="5400000">
            <a:off x="5000699" y="6236614"/>
            <a:ext cx="269142" cy="233916"/>
          </a:xfrm>
          <a:prstGeom prst="triangle">
            <a:avLst/>
          </a:prstGeom>
          <a:solidFill>
            <a:srgbClr val="02625C"/>
          </a:solidFill>
          <a:ln>
            <a:solidFill>
              <a:srgbClr val="026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 animBg="1"/>
      <p:bldP spid="52" grpId="0"/>
      <p:bldP spid="54" grpId="0"/>
      <p:bldP spid="55" grpId="0"/>
      <p:bldP spid="56" grpId="0" animBg="1"/>
      <p:bldP spid="61" grpId="0"/>
      <p:bldP spid="62" grpId="0"/>
      <p:bldP spid="63" grpId="0" animBg="1"/>
      <p:bldP spid="64" grpId="0"/>
      <p:bldP spid="6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8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01. PROBLEM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24C0E7B-7013-4172-8505-98F9F683C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5220" y="2484695"/>
            <a:ext cx="1994465" cy="3801805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08F0EA0-B5EB-4771-8747-A2F3C9257AE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8816" y="2256094"/>
            <a:ext cx="3429415" cy="4259006"/>
          </a:xfrm>
          <a:prstGeom prst="rect">
            <a:avLst/>
          </a:prstGeom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2DE97F47-59AA-44D2-8BB7-7C8695187E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7363" y="2516864"/>
            <a:ext cx="3133952" cy="3380891"/>
          </a:xfrm>
          <a:prstGeom prst="rect">
            <a:avLst/>
          </a:prstGeom>
          <a:ln>
            <a:solidFill>
              <a:srgbClr val="02625C"/>
            </a:solidFill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94;p9">
            <a:extLst>
              <a:ext uri="{FF2B5EF4-FFF2-40B4-BE49-F238E27FC236}">
                <a16:creationId xmlns:a16="http://schemas.microsoft.com/office/drawing/2014/main" id="{BFA35A6D-06BD-4652-AFC0-06F80B4D72E3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‘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나의 노하우를 팔고 싶어요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’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16416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;p8">
            <a:extLst>
              <a:ext uri="{FF2B5EF4-FFF2-40B4-BE49-F238E27FC236}">
                <a16:creationId xmlns:a16="http://schemas.microsoft.com/office/drawing/2014/main" id="{32FB889B-B721-45BF-A97C-BD131D0CB164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02.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4;p9">
            <a:extLst>
              <a:ext uri="{FF2B5EF4-FFF2-40B4-BE49-F238E27FC236}">
                <a16:creationId xmlns:a16="http://schemas.microsoft.com/office/drawing/2014/main" id="{1C0AFADA-7DAA-4FC1-A33B-631071CAE921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Calibri"/>
                <a:sym typeface="Noto Sans KR"/>
              </a:rPr>
              <a:t>그래서 만든 서비스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8BF9161-715E-476D-AE71-11D22317BD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>
                        <a14:foregroundMark x1="19434" y1="33301" x2="19434" y2="33301"/>
                        <a14:foregroundMark x1="24609" y1="27832" x2="24609" y2="27832"/>
                        <a14:foregroundMark x1="32617" y1="26660" x2="32617" y2="26660"/>
                        <a14:foregroundMark x1="47559" y1="22852" x2="47559" y2="22852"/>
                        <a14:foregroundMark x1="31836" y1="39844" x2="31836" y2="39844"/>
                        <a14:foregroundMark x1="37598" y1="41895" x2="37598" y2="41895"/>
                        <a14:foregroundMark x1="25586" y1="58789" x2="25586" y2="58789"/>
                        <a14:foregroundMark x1="52637" y1="58789" x2="52637" y2="58789"/>
                        <a14:foregroundMark x1="49414" y1="59180" x2="49414" y2="591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058885" y="1276502"/>
            <a:ext cx="5548086" cy="554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715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71;p8">
            <a:extLst>
              <a:ext uri="{FF2B5EF4-FFF2-40B4-BE49-F238E27FC236}">
                <a16:creationId xmlns:a16="http://schemas.microsoft.com/office/drawing/2014/main" id="{32FB889B-B721-45BF-A97C-BD131D0CB164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02.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소개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94;p9">
            <a:extLst>
              <a:ext uri="{FF2B5EF4-FFF2-40B4-BE49-F238E27FC236}">
                <a16:creationId xmlns:a16="http://schemas.microsoft.com/office/drawing/2014/main" id="{1C0AFADA-7DAA-4FC1-A33B-631071CAE921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Calibri"/>
                <a:sym typeface="Noto Sans KR"/>
              </a:rPr>
              <a:t>그래서 만든 서비스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94;p9">
            <a:extLst>
              <a:ext uri="{FF2B5EF4-FFF2-40B4-BE49-F238E27FC236}">
                <a16:creationId xmlns:a16="http://schemas.microsoft.com/office/drawing/2014/main" id="{DD5C3CFF-FEEB-4167-AADF-B1E66A6F1AE1}"/>
              </a:ext>
            </a:extLst>
          </p:cNvPr>
          <p:cNvSpPr txBox="1"/>
          <p:nvPr/>
        </p:nvSpPr>
        <p:spPr>
          <a:xfrm>
            <a:off x="2853388" y="5498940"/>
            <a:ext cx="1733126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ko-KR" altLang="en-US" sz="4000" b="1" dirty="0">
                <a:solidFill>
                  <a:srgbClr val="02625C"/>
                </a:solidFill>
                <a:latin typeface="Noto Sans KR"/>
                <a:ea typeface="Noto Sans KR"/>
                <a:cs typeface="Calibri"/>
                <a:sym typeface="Noto Sans KR"/>
              </a:rPr>
              <a:t>누구나</a:t>
            </a:r>
            <a:r>
              <a:rPr lang="en-US" altLang="ko-KR" sz="4000" b="1" dirty="0">
                <a:solidFill>
                  <a:srgbClr val="02625C"/>
                </a:solidFill>
                <a:latin typeface="Noto Sans KR"/>
                <a:ea typeface="Noto Sans KR"/>
                <a:cs typeface="Calibri"/>
                <a:sym typeface="Noto Sans KR"/>
              </a:rPr>
              <a:t>!</a:t>
            </a:r>
            <a:endParaRPr lang="en-US" altLang="ko-KR" sz="4000" dirty="0">
              <a:solidFill>
                <a:srgbClr val="0262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94;p9">
            <a:extLst>
              <a:ext uri="{FF2B5EF4-FFF2-40B4-BE49-F238E27FC236}">
                <a16:creationId xmlns:a16="http://schemas.microsoft.com/office/drawing/2014/main" id="{D5E9EF60-B0D6-4F0F-A4B5-BC8D2B3E9146}"/>
              </a:ext>
            </a:extLst>
          </p:cNvPr>
          <p:cNvSpPr txBox="1"/>
          <p:nvPr/>
        </p:nvSpPr>
        <p:spPr>
          <a:xfrm>
            <a:off x="7329720" y="5498939"/>
            <a:ext cx="2772228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4200"/>
              <a:buFont typeface="Noto Sans KR"/>
              <a:buNone/>
            </a:pPr>
            <a:r>
              <a:rPr lang="ko-KR" altLang="en-US" sz="4000" b="1" dirty="0">
                <a:solidFill>
                  <a:srgbClr val="02625C"/>
                </a:solidFill>
                <a:latin typeface="Noto Sans KR"/>
                <a:ea typeface="Noto Sans KR"/>
                <a:cs typeface="Calibri"/>
                <a:sym typeface="Noto Sans KR"/>
              </a:rPr>
              <a:t>노하우 활용</a:t>
            </a:r>
            <a:r>
              <a:rPr lang="en-US" altLang="ko-KR" sz="4000" b="1" dirty="0">
                <a:solidFill>
                  <a:srgbClr val="02625C"/>
                </a:solidFill>
                <a:latin typeface="Noto Sans KR"/>
                <a:ea typeface="Noto Sans KR"/>
                <a:cs typeface="Calibri"/>
                <a:sym typeface="Noto Sans KR"/>
              </a:rPr>
              <a:t>!</a:t>
            </a:r>
            <a:endParaRPr lang="en-US" altLang="ko-KR" sz="4000" dirty="0">
              <a:solidFill>
                <a:srgbClr val="0262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2F9AA3A-DF91-40A4-A841-13485CD6E860}"/>
              </a:ext>
            </a:extLst>
          </p:cNvPr>
          <p:cNvGrpSpPr/>
          <p:nvPr/>
        </p:nvGrpSpPr>
        <p:grpSpPr>
          <a:xfrm>
            <a:off x="2101914" y="2038197"/>
            <a:ext cx="3034562" cy="3144336"/>
            <a:chOff x="2101914" y="2038197"/>
            <a:chExt cx="3034562" cy="3144336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6EA5E547-82E2-4A83-8598-97684EA5BD40}"/>
                </a:ext>
              </a:extLst>
            </p:cNvPr>
            <p:cNvSpPr/>
            <p:nvPr/>
          </p:nvSpPr>
          <p:spPr>
            <a:xfrm>
              <a:off x="2101914" y="2370318"/>
              <a:ext cx="2812215" cy="2812215"/>
            </a:xfrm>
            <a:prstGeom prst="ellipse">
              <a:avLst/>
            </a:prstGeom>
            <a:noFill/>
            <a:ln w="38100">
              <a:solidFill>
                <a:srgbClr val="0262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</a:endParaRPr>
            </a:p>
          </p:txBody>
        </p:sp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61A8FD6-09EF-42EB-BD92-EB1C64B9123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01914" y="2038197"/>
              <a:ext cx="3034562" cy="303456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8A40AD-0817-4FC3-8EA0-BEB310AC11AE}"/>
                </a:ext>
              </a:extLst>
            </p:cNvPr>
            <p:cNvSpPr txBox="1"/>
            <p:nvPr/>
          </p:nvSpPr>
          <p:spPr>
            <a:xfrm>
              <a:off x="3004139" y="4595705"/>
              <a:ext cx="106952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2500" b="1" dirty="0">
                  <a:solidFill>
                    <a:srgbClr val="0262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판매자</a:t>
              </a:r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E221C566-E24F-4A6F-8A25-79CF54417E7D}"/>
              </a:ext>
            </a:extLst>
          </p:cNvPr>
          <p:cNvGrpSpPr/>
          <p:nvPr/>
        </p:nvGrpSpPr>
        <p:grpSpPr>
          <a:xfrm>
            <a:off x="7174613" y="2370318"/>
            <a:ext cx="2927335" cy="2812215"/>
            <a:chOff x="7174613" y="2370318"/>
            <a:chExt cx="2927335" cy="2812215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E7D0858-9B8F-416D-A6C6-69E519DE78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27251" b="77979" l="27533" r="80521"/>
                      </a14:imgEffect>
                    </a14:imgLayer>
                  </a14:imgProps>
                </a:ext>
              </a:extLst>
            </a:blip>
            <a:srcRect l="20910" t="20910" r="12856" b="15680"/>
            <a:stretch/>
          </p:blipFill>
          <p:spPr>
            <a:xfrm>
              <a:off x="7454254" y="2370318"/>
              <a:ext cx="2647694" cy="2534844"/>
            </a:xfrm>
            <a:prstGeom prst="rect">
              <a:avLst/>
            </a:prstGeom>
          </p:spPr>
        </p:pic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D2DE8DE-C7DB-4231-A819-3DDFFAC6D1F3}"/>
                </a:ext>
              </a:extLst>
            </p:cNvPr>
            <p:cNvSpPr/>
            <p:nvPr/>
          </p:nvSpPr>
          <p:spPr>
            <a:xfrm>
              <a:off x="7174613" y="2370318"/>
              <a:ext cx="2812215" cy="2812215"/>
            </a:xfrm>
            <a:prstGeom prst="ellipse">
              <a:avLst/>
            </a:prstGeom>
            <a:noFill/>
            <a:ln w="38100">
              <a:solidFill>
                <a:srgbClr val="0262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FC3584E-6E77-4B2D-B1F8-A0797C3522E9}"/>
                </a:ext>
              </a:extLst>
            </p:cNvPr>
            <p:cNvSpPr txBox="1"/>
            <p:nvPr/>
          </p:nvSpPr>
          <p:spPr>
            <a:xfrm>
              <a:off x="8089500" y="4595038"/>
              <a:ext cx="1069524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25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소비자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4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21379E-E9D2-43C4-8B19-971E2EF81744}"/>
              </a:ext>
            </a:extLst>
          </p:cNvPr>
          <p:cNvSpPr txBox="1"/>
          <p:nvPr/>
        </p:nvSpPr>
        <p:spPr>
          <a:xfrm>
            <a:off x="5482541" y="3075057"/>
            <a:ext cx="1226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000" b="1" dirty="0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영상</a:t>
            </a:r>
          </a:p>
        </p:txBody>
      </p:sp>
    </p:spTree>
    <p:extLst>
      <p:ext uri="{BB962C8B-B14F-4D97-AF65-F5344CB8AC3E}">
        <p14:creationId xmlns:p14="http://schemas.microsoft.com/office/powerpoint/2010/main" val="1276720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1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03. SOLUTION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 txBox="1"/>
          <p:nvPr/>
        </p:nvSpPr>
        <p:spPr>
          <a:xfrm>
            <a:off x="8684322" y="2708725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 KR"/>
              <a:buNone/>
            </a:pPr>
            <a:r>
              <a:rPr lang="en-US" sz="25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en-US" sz="2500" b="1" dirty="0" err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템플릿</a:t>
            </a:r>
            <a:r>
              <a:rPr lang="en-US" sz="25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5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구매</a:t>
            </a:r>
            <a:endParaRPr sz="2500" dirty="0">
              <a:solidFill>
                <a:srgbClr val="0262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 txBox="1"/>
          <p:nvPr/>
        </p:nvSpPr>
        <p:spPr>
          <a:xfrm>
            <a:off x="8555085" y="3436929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 KR"/>
              <a:buNone/>
            </a:pPr>
            <a:r>
              <a:rPr lang="en-US" altLang="ko-KR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ko-KR" altLang="en-US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슬롯 입력</a:t>
            </a:r>
            <a:endParaRPr lang="ko-KR" altLang="en-US"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8555085" y="4165133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600"/>
              <a:buFont typeface="Noto Sans KR"/>
              <a:buNone/>
            </a:pPr>
            <a:r>
              <a:rPr 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lang="en-US" sz="2500" b="1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endParaRPr sz="25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94;p9">
            <a:extLst>
              <a:ext uri="{FF2B5EF4-FFF2-40B4-BE49-F238E27FC236}">
                <a16:creationId xmlns:a16="http://schemas.microsoft.com/office/drawing/2014/main" id="{27B919A8-D5F5-41F9-B65E-85DED4AA2AB8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4200"/>
            </a:pPr>
            <a:r>
              <a:rPr lang="en-US" altLang="ko-KR" sz="4000" b="1" dirty="0" err="1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Promtree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는 </a:t>
            </a:r>
            <a:r>
              <a:rPr lang="en-US" altLang="ko-KR" sz="40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ko-KR" altLang="en-US" sz="40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노하우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를 제공합니다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824E3B-C834-4C36-9BAD-181C970024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85" y="2622072"/>
            <a:ext cx="7966779" cy="33106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1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03. SOLUTION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94;p9">
            <a:extLst>
              <a:ext uri="{FF2B5EF4-FFF2-40B4-BE49-F238E27FC236}">
                <a16:creationId xmlns:a16="http://schemas.microsoft.com/office/drawing/2014/main" id="{27B919A8-D5F5-41F9-B65E-85DED4AA2AB8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4200"/>
            </a:pPr>
            <a:r>
              <a:rPr lang="en-US" altLang="ko-KR" sz="4000" b="1" dirty="0" err="1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Promtree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는 </a:t>
            </a:r>
            <a:r>
              <a:rPr lang="en-US" altLang="ko-KR" sz="40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ko-KR" altLang="en-US" sz="40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노하우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를 제공합니다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E88561B-B675-452C-83C0-D1FD48179F9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879"/>
          <a:stretch/>
        </p:blipFill>
        <p:spPr>
          <a:xfrm>
            <a:off x="753530" y="2447849"/>
            <a:ext cx="4018571" cy="364301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02EA320-C3F1-47C2-8305-0102B8F3498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51745"/>
          <a:stretch/>
        </p:blipFill>
        <p:spPr>
          <a:xfrm>
            <a:off x="4936104" y="2447849"/>
            <a:ext cx="4018571" cy="3309331"/>
          </a:xfrm>
          <a:prstGeom prst="rect">
            <a:avLst/>
          </a:prstGeom>
        </p:spPr>
      </p:pic>
      <p:sp>
        <p:nvSpPr>
          <p:cNvPr id="14" name="Google Shape;159;p11">
            <a:extLst>
              <a:ext uri="{FF2B5EF4-FFF2-40B4-BE49-F238E27FC236}">
                <a16:creationId xmlns:a16="http://schemas.microsoft.com/office/drawing/2014/main" id="{2DC5244A-6336-4C76-99CB-DFC43000C4CB}"/>
              </a:ext>
            </a:extLst>
          </p:cNvPr>
          <p:cNvSpPr txBox="1"/>
          <p:nvPr/>
        </p:nvSpPr>
        <p:spPr>
          <a:xfrm>
            <a:off x="8684322" y="2708725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 KR"/>
              <a:buNone/>
            </a:pPr>
            <a:r>
              <a:rPr 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en-US" sz="2500" b="1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템플릿</a:t>
            </a:r>
            <a:r>
              <a:rPr 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구매</a:t>
            </a:r>
            <a:endParaRPr sz="25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61;p11">
            <a:extLst>
              <a:ext uri="{FF2B5EF4-FFF2-40B4-BE49-F238E27FC236}">
                <a16:creationId xmlns:a16="http://schemas.microsoft.com/office/drawing/2014/main" id="{A3618C43-B991-49C1-BAD5-1ED45A45678A}"/>
              </a:ext>
            </a:extLst>
          </p:cNvPr>
          <p:cNvSpPr txBox="1"/>
          <p:nvPr/>
        </p:nvSpPr>
        <p:spPr>
          <a:xfrm>
            <a:off x="8555085" y="3436929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 KR"/>
              <a:buNone/>
            </a:pPr>
            <a:r>
              <a:rPr lang="en-US" altLang="ko-KR" sz="25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ko-KR" altLang="en-US" sz="25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슬롯 입력</a:t>
            </a:r>
            <a:endParaRPr lang="ko-KR" altLang="en-US" sz="2500" dirty="0">
              <a:solidFill>
                <a:srgbClr val="0262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3;p11">
            <a:extLst>
              <a:ext uri="{FF2B5EF4-FFF2-40B4-BE49-F238E27FC236}">
                <a16:creationId xmlns:a16="http://schemas.microsoft.com/office/drawing/2014/main" id="{FC52EFD7-845E-46DF-B917-D1F87E03153C}"/>
              </a:ext>
            </a:extLst>
          </p:cNvPr>
          <p:cNvSpPr txBox="1"/>
          <p:nvPr/>
        </p:nvSpPr>
        <p:spPr>
          <a:xfrm>
            <a:off x="8555085" y="4165133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600"/>
              <a:buFont typeface="Noto Sans KR"/>
              <a:buNone/>
            </a:pPr>
            <a:r>
              <a:rPr 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lang="en-US" sz="2500" b="1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00" b="1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endParaRPr sz="25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38978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1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03. SOLUTION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94;p9">
            <a:extLst>
              <a:ext uri="{FF2B5EF4-FFF2-40B4-BE49-F238E27FC236}">
                <a16:creationId xmlns:a16="http://schemas.microsoft.com/office/drawing/2014/main" id="{27B919A8-D5F5-41F9-B65E-85DED4AA2AB8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4200"/>
            </a:pPr>
            <a:r>
              <a:rPr lang="en-US" altLang="ko-KR" sz="4000" b="1" dirty="0" err="1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Promtree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는 </a:t>
            </a:r>
            <a:r>
              <a:rPr lang="en-US" altLang="ko-KR" sz="40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ko-KR" altLang="en-US" sz="40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노하우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를 제공합니다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59;p11">
            <a:extLst>
              <a:ext uri="{FF2B5EF4-FFF2-40B4-BE49-F238E27FC236}">
                <a16:creationId xmlns:a16="http://schemas.microsoft.com/office/drawing/2014/main" id="{6BD8E83B-8896-457C-A247-7FD7408ACBAA}"/>
              </a:ext>
            </a:extLst>
          </p:cNvPr>
          <p:cNvSpPr txBox="1"/>
          <p:nvPr/>
        </p:nvSpPr>
        <p:spPr>
          <a:xfrm>
            <a:off x="8684322" y="2708725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 KR"/>
              <a:buNone/>
            </a:pPr>
            <a:r>
              <a:rPr 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en-US" sz="2500" b="1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템플릿</a:t>
            </a:r>
            <a:r>
              <a:rPr 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2500" b="1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구매</a:t>
            </a:r>
            <a:endParaRPr sz="25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61;p11">
            <a:extLst>
              <a:ext uri="{FF2B5EF4-FFF2-40B4-BE49-F238E27FC236}">
                <a16:creationId xmlns:a16="http://schemas.microsoft.com/office/drawing/2014/main" id="{F594DA3F-DA84-4073-8FE4-0AB6F3A060D0}"/>
              </a:ext>
            </a:extLst>
          </p:cNvPr>
          <p:cNvSpPr txBox="1"/>
          <p:nvPr/>
        </p:nvSpPr>
        <p:spPr>
          <a:xfrm>
            <a:off x="8555085" y="3436929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Noto Sans KR"/>
              <a:buNone/>
            </a:pPr>
            <a:r>
              <a:rPr lang="en-US" altLang="ko-KR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ko-KR" altLang="en-US" sz="25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슬롯 입력</a:t>
            </a:r>
            <a:endParaRPr lang="ko-KR" altLang="en-US"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63;p11">
            <a:extLst>
              <a:ext uri="{FF2B5EF4-FFF2-40B4-BE49-F238E27FC236}">
                <a16:creationId xmlns:a16="http://schemas.microsoft.com/office/drawing/2014/main" id="{19BF5922-3E5D-48CC-854E-41208E39A4E8}"/>
              </a:ext>
            </a:extLst>
          </p:cNvPr>
          <p:cNvSpPr txBox="1"/>
          <p:nvPr/>
        </p:nvSpPr>
        <p:spPr>
          <a:xfrm>
            <a:off x="8555085" y="4165133"/>
            <a:ext cx="304861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600"/>
              <a:buFont typeface="Noto Sans KR"/>
              <a:buNone/>
            </a:pPr>
            <a:r>
              <a:rPr lang="en-US" sz="25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lang="en-US" sz="2500" b="1" dirty="0" err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결과</a:t>
            </a:r>
            <a:r>
              <a:rPr lang="en-US" sz="25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00" b="1" dirty="0" err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생성</a:t>
            </a:r>
            <a:endParaRPr sz="2500" dirty="0">
              <a:solidFill>
                <a:srgbClr val="02625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75740D9-29B4-4F5E-BA5F-93D397A16F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695" y="2447632"/>
            <a:ext cx="6890519" cy="4220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859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13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3"/>
          <p:cNvSpPr/>
          <p:nvPr/>
        </p:nvSpPr>
        <p:spPr>
          <a:xfrm>
            <a:off x="1714500" y="2654304"/>
            <a:ext cx="3657600" cy="2876702"/>
          </a:xfrm>
          <a:prstGeom prst="roundRect">
            <a:avLst>
              <a:gd name="adj" fmla="val 3368"/>
            </a:avLst>
          </a:prstGeom>
          <a:solidFill>
            <a:srgbClr val="F1F3F5"/>
          </a:solidFill>
          <a:ln w="12700" cap="flat" cmpd="sng">
            <a:solidFill>
              <a:srgbClr val="DEE2E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1" name="Google Shape;201;p13" descr="gen-dedup-ee76b430731b6f7794c3986b1f37c6a5.png"/>
          <p:cNvPicPr preferRelativeResize="0"/>
          <p:nvPr/>
        </p:nvPicPr>
        <p:blipFill rotWithShape="1">
          <a:blip r:embed="rId4">
            <a:alphaModFix/>
          </a:blip>
          <a:srcRect t="-1" b="-1"/>
          <a:stretch/>
        </p:blipFill>
        <p:spPr>
          <a:xfrm>
            <a:off x="6858000" y="2654304"/>
            <a:ext cx="3696005" cy="2895905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3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03. SOLUTION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3258007" y="2988060"/>
            <a:ext cx="533095" cy="533095"/>
          </a:xfrm>
          <a:prstGeom prst="ellipse">
            <a:avLst/>
          </a:prstGeom>
          <a:solidFill>
            <a:srgbClr val="E9ECEF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06" name="Google Shape;206;p13" descr="gen-dedup-d78294228bc4d03ef4cf95f9e507ad71.png"/>
          <p:cNvPicPr preferRelativeResize="0"/>
          <p:nvPr/>
        </p:nvPicPr>
        <p:blipFill rotWithShape="1">
          <a:blip r:embed="rId5">
            <a:alphaModFix/>
          </a:blip>
          <a:srcRect l="-7143" r="-7143"/>
          <a:stretch/>
        </p:blipFill>
        <p:spPr>
          <a:xfrm>
            <a:off x="3409798" y="31398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3"/>
          <p:cNvSpPr txBox="1"/>
          <p:nvPr/>
        </p:nvSpPr>
        <p:spPr>
          <a:xfrm>
            <a:off x="2597810" y="3673860"/>
            <a:ext cx="2279599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600"/>
              <a:buFont typeface="Noto Sans KR"/>
              <a:buNone/>
            </a:pPr>
            <a:r>
              <a:rPr lang="en-US" sz="1600" b="1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프롬프트 원문 비공개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3" descr="gen-dedup-67fb69807d17e066a70ee3f58f0754a0.png"/>
          <p:cNvPicPr preferRelativeResize="0"/>
          <p:nvPr/>
        </p:nvPicPr>
        <p:blipFill rotWithShape="1">
          <a:blip r:embed="rId6">
            <a:alphaModFix amt="60000"/>
          </a:blip>
          <a:srcRect l="-6" r="-6"/>
          <a:stretch/>
        </p:blipFill>
        <p:spPr>
          <a:xfrm>
            <a:off x="2190902" y="4206955"/>
            <a:ext cx="266730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3" descr="gen-dedup-62e2158b8ce7d55effa8b0d7389d498c.png"/>
          <p:cNvPicPr preferRelativeResize="0"/>
          <p:nvPr/>
        </p:nvPicPr>
        <p:blipFill rotWithShape="1">
          <a:blip r:embed="rId7">
            <a:alphaModFix amt="60000"/>
          </a:blip>
          <a:srcRect t="-7" b="-7"/>
          <a:stretch/>
        </p:blipFill>
        <p:spPr>
          <a:xfrm>
            <a:off x="2190902" y="4416353"/>
            <a:ext cx="21332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3" descr="gen-dedup-10fbcbb988ad1bc2b59f19484fee9ff8.png"/>
          <p:cNvPicPr preferRelativeResize="0"/>
          <p:nvPr/>
        </p:nvPicPr>
        <p:blipFill rotWithShape="1">
          <a:blip r:embed="rId8">
            <a:alphaModFix amt="60000"/>
          </a:blip>
          <a:srcRect/>
          <a:stretch/>
        </p:blipFill>
        <p:spPr>
          <a:xfrm>
            <a:off x="2190902" y="4625750"/>
            <a:ext cx="24003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13" descr="gen-dedup-50616f1c0fc468c4526325fca307c770.png"/>
          <p:cNvPicPr preferRelativeResize="0"/>
          <p:nvPr/>
        </p:nvPicPr>
        <p:blipFill rotWithShape="1">
          <a:blip r:embed="rId9">
            <a:alphaModFix amt="60000"/>
          </a:blip>
          <a:srcRect/>
          <a:stretch/>
        </p:blipFill>
        <p:spPr>
          <a:xfrm>
            <a:off x="2190902" y="4835148"/>
            <a:ext cx="160020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13" descr="gen-dedup-d84bed8d028c1cf76378602028f5d454.png"/>
          <p:cNvPicPr preferRelativeResize="0"/>
          <p:nvPr/>
        </p:nvPicPr>
        <p:blipFill rotWithShape="1">
          <a:blip r:embed="rId10">
            <a:alphaModFix/>
          </a:blip>
          <a:srcRect l="-7143" r="-7143"/>
          <a:stretch/>
        </p:blipFill>
        <p:spPr>
          <a:xfrm>
            <a:off x="5962802" y="3950009"/>
            <a:ext cx="267005" cy="267005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13"/>
          <p:cNvSpPr/>
          <p:nvPr/>
        </p:nvSpPr>
        <p:spPr>
          <a:xfrm>
            <a:off x="8401507" y="2988060"/>
            <a:ext cx="533095" cy="533095"/>
          </a:xfrm>
          <a:prstGeom prst="ellipse">
            <a:avLst/>
          </a:prstGeom>
          <a:solidFill>
            <a:srgbClr val="E6F2F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14" name="Google Shape;214;p13" descr="gen-dedup-2707dd569372cca7dc73a1389c9a2806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8553298" y="3139850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3"/>
          <p:cNvSpPr txBox="1"/>
          <p:nvPr/>
        </p:nvSpPr>
        <p:spPr>
          <a:xfrm>
            <a:off x="7616038" y="3673860"/>
            <a:ext cx="2637130" cy="305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600"/>
              <a:buFont typeface="Noto Sans KR"/>
              <a:buNone/>
            </a:pPr>
            <a:r>
              <a:rPr lang="en-US" sz="1600" b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사용자 입력 영역만 공개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7334402" y="4206955"/>
            <a:ext cx="2915107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 w="12700" cap="flat" cmpd="sng">
            <a:solidFill>
              <a:srgbClr val="0262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7457846" y="4312111"/>
            <a:ext cx="466344" cy="228600"/>
          </a:xfrm>
          <a:prstGeom prst="roundRect">
            <a:avLst>
              <a:gd name="adj" fmla="val 133333"/>
            </a:avLst>
          </a:prstGeom>
          <a:solidFill>
            <a:srgbClr val="E6F2F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7457846" y="4312111"/>
            <a:ext cx="467258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3500" tIns="25400" rIns="635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000"/>
              <a:buFont typeface="Noto Sans KR"/>
              <a:buNone/>
            </a:pPr>
            <a:r>
              <a:rPr lang="en-US" sz="1000" b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{주제}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 txBox="1"/>
          <p:nvPr/>
        </p:nvSpPr>
        <p:spPr>
          <a:xfrm>
            <a:off x="7994599" y="4330399"/>
            <a:ext cx="939089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ADB5BD"/>
                </a:solidFill>
                <a:latin typeface="Noto Sans KR"/>
                <a:ea typeface="Noto Sans KR"/>
                <a:cs typeface="Noto Sans KR"/>
                <a:sym typeface="Noto Sans KR"/>
              </a:rPr>
              <a:t>입력하세요...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7334402" y="4759253"/>
            <a:ext cx="2915107" cy="437998"/>
          </a:xfrm>
          <a:prstGeom prst="roundRect">
            <a:avLst>
              <a:gd name="adj" fmla="val 72615"/>
            </a:avLst>
          </a:prstGeom>
          <a:solidFill>
            <a:srgbClr val="F8F9FA"/>
          </a:solidFill>
          <a:ln w="12700" cap="flat" cmpd="sng">
            <a:solidFill>
              <a:srgbClr val="0262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7457846" y="4864409"/>
            <a:ext cx="466344" cy="228600"/>
          </a:xfrm>
          <a:prstGeom prst="roundRect">
            <a:avLst>
              <a:gd name="adj" fmla="val 133333"/>
            </a:avLst>
          </a:prstGeom>
          <a:solidFill>
            <a:srgbClr val="E6F2F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22" name="Google Shape;222;p13"/>
          <p:cNvSpPr txBox="1"/>
          <p:nvPr/>
        </p:nvSpPr>
        <p:spPr>
          <a:xfrm>
            <a:off x="7457846" y="4864409"/>
            <a:ext cx="467258" cy="228600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3500" tIns="25400" rIns="63500" bIns="254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000"/>
              <a:buFont typeface="Noto Sans KR"/>
              <a:buNone/>
            </a:pPr>
            <a:r>
              <a:rPr lang="en-US" sz="1000" b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{타겟}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 txBox="1"/>
          <p:nvPr/>
        </p:nvSpPr>
        <p:spPr>
          <a:xfrm>
            <a:off x="7994599" y="4883611"/>
            <a:ext cx="939089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ADB5BD"/>
                </a:solidFill>
                <a:latin typeface="Noto Sans KR"/>
                <a:ea typeface="Noto Sans KR"/>
                <a:cs typeface="Noto Sans KR"/>
                <a:sym typeface="Noto Sans KR"/>
              </a:rPr>
              <a:t>입력하세요...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4" name="Google Shape;224;p13" descr="gen-dedup-964b4c72355a1ac6cb1e345f25b17860.png"/>
          <p:cNvPicPr preferRelativeResize="0"/>
          <p:nvPr/>
        </p:nvPicPr>
        <p:blipFill rotWithShape="1">
          <a:blip r:embed="rId12">
            <a:alphaModFix/>
          </a:blip>
          <a:srcRect l="-8" r="-8"/>
          <a:stretch/>
        </p:blipFill>
        <p:spPr>
          <a:xfrm>
            <a:off x="1524305" y="5893109"/>
            <a:ext cx="9144000" cy="50474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3"/>
          <p:cNvSpPr txBox="1"/>
          <p:nvPr/>
        </p:nvSpPr>
        <p:spPr>
          <a:xfrm>
            <a:off x="3271723" y="5893109"/>
            <a:ext cx="7396582" cy="50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500"/>
              <a:buFont typeface="Noto Sans KR"/>
              <a:buNone/>
            </a:pPr>
            <a:r>
              <a:rPr lang="en-US" sz="15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 슬롯 기반 템플릿 구조 — 복제·재판매 리스크 차단, 크리에이터 수익화 보호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6" name="Google Shape;226;p13" descr="gen-dedup-02d1f34e545f10c22bc3d96a8b59a81f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967228" y="605038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94;p9">
            <a:extLst>
              <a:ext uri="{FF2B5EF4-FFF2-40B4-BE49-F238E27FC236}">
                <a16:creationId xmlns:a16="http://schemas.microsoft.com/office/drawing/2014/main" id="{053BC625-324C-43B9-9AE8-F344FEACF2AF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900"/>
              <a:buFont typeface="Noto Sans KR"/>
              <a:buNone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원문은 보호하고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, </a:t>
            </a:r>
            <a:r>
              <a:rPr lang="ko-KR" altLang="en-US" sz="4000" b="1" dirty="0" err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입력값만</a:t>
            </a: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 공개합니다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. </a:t>
            </a:r>
            <a:endParaRPr lang="ko-KR" altLang="en-US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1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03. SOLUTION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94;p9">
            <a:extLst>
              <a:ext uri="{FF2B5EF4-FFF2-40B4-BE49-F238E27FC236}">
                <a16:creationId xmlns:a16="http://schemas.microsoft.com/office/drawing/2014/main" id="{27B919A8-D5F5-41F9-B65E-85DED4AA2AB8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4200"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똑똑한 문서를 만듭니다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CCE5C0-451F-4296-8BC0-19D8261EA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589" y="2220685"/>
            <a:ext cx="8214515" cy="4210369"/>
          </a:xfrm>
          <a:prstGeom prst="rect">
            <a:avLst/>
          </a:prstGeom>
          <a:ln w="38100">
            <a:solidFill>
              <a:srgbClr val="0262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5124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1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03. SOLUTION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94;p9">
            <a:extLst>
              <a:ext uri="{FF2B5EF4-FFF2-40B4-BE49-F238E27FC236}">
                <a16:creationId xmlns:a16="http://schemas.microsoft.com/office/drawing/2014/main" id="{27B919A8-D5F5-41F9-B65E-85DED4AA2AB8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4200"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똑똑한 문서를 만듭니다</a:t>
            </a:r>
            <a:r>
              <a:rPr lang="en-US" altLang="ko-KR" sz="4000" b="1" dirty="0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D7EE84C-40A0-47C0-AF54-7B6CA0AE10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5533" y="2038197"/>
            <a:ext cx="2412890" cy="4474029"/>
          </a:xfrm>
          <a:prstGeom prst="rect">
            <a:avLst/>
          </a:prstGeom>
          <a:ln w="28575">
            <a:solidFill>
              <a:srgbClr val="0262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39EE39D-82D0-446D-81D0-DA4567B99A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2006" y="2038197"/>
            <a:ext cx="2591055" cy="4424939"/>
          </a:xfrm>
          <a:prstGeom prst="rect">
            <a:avLst/>
          </a:prstGeom>
          <a:ln w="28575">
            <a:solidFill>
              <a:srgbClr val="0262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AE79D21-9711-4BEA-9406-35BC963167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3163" y="2039632"/>
            <a:ext cx="2089825" cy="4498437"/>
          </a:xfrm>
          <a:prstGeom prst="rect">
            <a:avLst/>
          </a:prstGeom>
          <a:ln w="38100">
            <a:solidFill>
              <a:srgbClr val="0262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73409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1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03. SOLUTION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94;p9">
            <a:extLst>
              <a:ext uri="{FF2B5EF4-FFF2-40B4-BE49-F238E27FC236}">
                <a16:creationId xmlns:a16="http://schemas.microsoft.com/office/drawing/2014/main" id="{27B919A8-D5F5-41F9-B65E-85DED4AA2AB8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4200"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Calibri"/>
                <a:sym typeface="Noto Sans KR"/>
              </a:rPr>
              <a:t>소통과 협업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5AAAAC3-6359-41F8-8D3F-8A6528B5EB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7771" y="2169491"/>
            <a:ext cx="8596458" cy="3986763"/>
          </a:xfrm>
          <a:prstGeom prst="rect">
            <a:avLst/>
          </a:prstGeom>
          <a:ln w="28575">
            <a:solidFill>
              <a:srgbClr val="0262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8354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11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1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03. SOLUTION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94;p9">
            <a:extLst>
              <a:ext uri="{FF2B5EF4-FFF2-40B4-BE49-F238E27FC236}">
                <a16:creationId xmlns:a16="http://schemas.microsoft.com/office/drawing/2014/main" id="{27B919A8-D5F5-41F9-B65E-85DED4AA2AB8}"/>
              </a:ext>
            </a:extLst>
          </p:cNvPr>
          <p:cNvSpPr txBox="1"/>
          <p:nvPr/>
        </p:nvSpPr>
        <p:spPr>
          <a:xfrm>
            <a:off x="761695" y="1333195"/>
            <a:ext cx="11199571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>
              <a:buClr>
                <a:srgbClr val="111111"/>
              </a:buClr>
              <a:buSzPts val="4200"/>
            </a:pPr>
            <a:r>
              <a:rPr lang="ko-KR" altLang="en-US" sz="4000" b="1" dirty="0">
                <a:solidFill>
                  <a:srgbClr val="111111"/>
                </a:solidFill>
                <a:latin typeface="Noto Sans KR"/>
                <a:ea typeface="Noto Sans KR"/>
                <a:cs typeface="Calibri"/>
                <a:sym typeface="Noto Sans KR"/>
              </a:rPr>
              <a:t>소통과 협업</a:t>
            </a:r>
            <a:endParaRPr lang="en-US" altLang="ko-KR" sz="4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3A7E28-15DC-4712-8FD4-349B41EC3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57377" y="2102554"/>
            <a:ext cx="3873544" cy="4183945"/>
          </a:xfrm>
          <a:prstGeom prst="rect">
            <a:avLst/>
          </a:prstGeom>
          <a:ln w="28575">
            <a:solidFill>
              <a:srgbClr val="0262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0595CAE-C544-45E2-BE3B-B37AF97C7C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7398" y="2102554"/>
            <a:ext cx="3098338" cy="4313840"/>
          </a:xfrm>
          <a:prstGeom prst="rect">
            <a:avLst/>
          </a:prstGeom>
          <a:ln w="28575">
            <a:solidFill>
              <a:srgbClr val="02625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83294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21379E-E9D2-43C4-8B19-971E2EF81744}"/>
              </a:ext>
            </a:extLst>
          </p:cNvPr>
          <p:cNvSpPr txBox="1"/>
          <p:nvPr/>
        </p:nvSpPr>
        <p:spPr>
          <a:xfrm>
            <a:off x="4513790" y="3075057"/>
            <a:ext cx="3164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4. </a:t>
            </a:r>
            <a:r>
              <a:rPr lang="ko-KR" altLang="en-US" sz="4000" b="1" dirty="0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수익 구조</a:t>
            </a:r>
          </a:p>
        </p:txBody>
      </p:sp>
    </p:spTree>
    <p:extLst>
      <p:ext uri="{BB962C8B-B14F-4D97-AF65-F5344CB8AC3E}">
        <p14:creationId xmlns:p14="http://schemas.microsoft.com/office/powerpoint/2010/main" val="3754362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Freeform 4">
            <a:extLst>
              <a:ext uri="{FF2B5EF4-FFF2-40B4-BE49-F238E27FC236}">
                <a16:creationId xmlns:a16="http://schemas.microsoft.com/office/drawing/2014/main" id="{47095E8B-0B4C-470A-B3B2-265347789F2A}"/>
              </a:ext>
            </a:extLst>
          </p:cNvPr>
          <p:cNvSpPr/>
          <p:nvPr/>
        </p:nvSpPr>
        <p:spPr>
          <a:xfrm>
            <a:off x="8138886" y="1886857"/>
            <a:ext cx="2340429" cy="1542143"/>
          </a:xfrm>
          <a:custGeom>
            <a:avLst/>
            <a:gdLst/>
            <a:ahLst/>
            <a:cxnLst/>
            <a:rect l="l" t="t" r="r" b="b"/>
            <a:pathLst>
              <a:path w="3625587" h="2403050">
                <a:moveTo>
                  <a:pt x="0" y="0"/>
                </a:moveTo>
                <a:lnTo>
                  <a:pt x="3625587" y="0"/>
                </a:lnTo>
                <a:lnTo>
                  <a:pt x="3625587" y="2403050"/>
                </a:lnTo>
                <a:lnTo>
                  <a:pt x="0" y="24030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798"/>
            </a:stretch>
          </a:blipFill>
        </p:spPr>
        <p:txBody>
          <a:bodyPr/>
          <a:lstStyle/>
          <a:p>
            <a:endParaRPr lang="ko-KR" altLang="en-US"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B0F8F1D2-13FA-48EE-8600-19DFB23F56A2}"/>
              </a:ext>
            </a:extLst>
          </p:cNvPr>
          <p:cNvSpPr txBox="1"/>
          <p:nvPr/>
        </p:nvSpPr>
        <p:spPr>
          <a:xfrm>
            <a:off x="1348353" y="2905239"/>
            <a:ext cx="9495294" cy="104752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7020"/>
              </a:lnSpc>
            </a:pPr>
            <a:r>
              <a:rPr lang="en-US" sz="4000" b="1" dirty="0" err="1">
                <a:solidFill>
                  <a:srgbClr val="11111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서비스</a:t>
            </a:r>
            <a:r>
              <a:rPr lang="en-US" sz="4000" b="1" dirty="0">
                <a:solidFill>
                  <a:srgbClr val="11111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4000" b="1" dirty="0" err="1">
                <a:solidFill>
                  <a:srgbClr val="11111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내의</a:t>
            </a:r>
            <a:r>
              <a:rPr lang="en-US" sz="4000" b="1" dirty="0">
                <a:solidFill>
                  <a:srgbClr val="11111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4000" b="1" dirty="0" err="1">
                <a:solidFill>
                  <a:srgbClr val="11111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모든</a:t>
            </a:r>
            <a:r>
              <a:rPr lang="en-US" sz="4000" b="1" dirty="0">
                <a:solidFill>
                  <a:srgbClr val="11111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4000" b="1" dirty="0" err="1">
                <a:solidFill>
                  <a:srgbClr val="11111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기능</a:t>
            </a:r>
            <a:r>
              <a:rPr lang="en-US" sz="4000" b="1" dirty="0">
                <a:solidFill>
                  <a:srgbClr val="11111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 </a:t>
            </a:r>
            <a:r>
              <a:rPr lang="en-US" sz="4000" b="1" dirty="0" err="1">
                <a:solidFill>
                  <a:srgbClr val="E03131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무료화</a:t>
            </a:r>
            <a:endParaRPr lang="en-US" sz="4000" b="1" dirty="0">
              <a:solidFill>
                <a:srgbClr val="E03131"/>
              </a:solidFill>
              <a:latin typeface="Noto Sans Bold"/>
              <a:ea typeface="Noto Sans Bold"/>
              <a:cs typeface="Noto Sans Bold"/>
              <a:sym typeface="Noto Sans Bold"/>
            </a:endParaRPr>
          </a:p>
        </p:txBody>
      </p:sp>
      <p:sp>
        <p:nvSpPr>
          <p:cNvPr id="8" name="Google Shape;202;p13">
            <a:extLst>
              <a:ext uri="{FF2B5EF4-FFF2-40B4-BE49-F238E27FC236}">
                <a16:creationId xmlns:a16="http://schemas.microsoft.com/office/drawing/2014/main" id="{AB4EC594-88F5-4434-8A89-370107D7A264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04.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수익구조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73437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5;p1">
            <a:extLst>
              <a:ext uri="{FF2B5EF4-FFF2-40B4-BE49-F238E27FC236}">
                <a16:creationId xmlns:a16="http://schemas.microsoft.com/office/drawing/2014/main" id="{E4872A38-63EF-4095-8B93-2349DB6625F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49236" y="2911585"/>
            <a:ext cx="3441870" cy="103482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2;p13">
            <a:extLst>
              <a:ext uri="{FF2B5EF4-FFF2-40B4-BE49-F238E27FC236}">
                <a16:creationId xmlns:a16="http://schemas.microsoft.com/office/drawing/2014/main" id="{A3A06473-FA82-4FFE-A7A5-97CA585291BE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04.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수익구조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CA2C96A-BED3-4CC9-B60F-F70FA5F03794}"/>
              </a:ext>
            </a:extLst>
          </p:cNvPr>
          <p:cNvGrpSpPr/>
          <p:nvPr/>
        </p:nvGrpSpPr>
        <p:grpSpPr>
          <a:xfrm>
            <a:off x="592428" y="2254897"/>
            <a:ext cx="2005628" cy="2099713"/>
            <a:chOff x="2101914" y="2038197"/>
            <a:chExt cx="3034562" cy="3159580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0BC7AC8-2179-4655-9B77-CBEA45A43EBD}"/>
                </a:ext>
              </a:extLst>
            </p:cNvPr>
            <p:cNvSpPr/>
            <p:nvPr/>
          </p:nvSpPr>
          <p:spPr>
            <a:xfrm>
              <a:off x="2101914" y="2370318"/>
              <a:ext cx="2812215" cy="2812215"/>
            </a:xfrm>
            <a:prstGeom prst="ellipse">
              <a:avLst/>
            </a:prstGeom>
            <a:noFill/>
            <a:ln w="38100">
              <a:solidFill>
                <a:srgbClr val="0262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9CA397C-9DCE-43F8-B4D8-4B7EBBD24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01914" y="2038197"/>
              <a:ext cx="3034562" cy="303456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6E956D-9659-4E56-8F42-FFB862D89A53}"/>
                </a:ext>
              </a:extLst>
            </p:cNvPr>
            <p:cNvSpPr txBox="1"/>
            <p:nvPr/>
          </p:nvSpPr>
          <p:spPr>
            <a:xfrm>
              <a:off x="2894339" y="4595704"/>
              <a:ext cx="1348998" cy="602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2000" b="1" dirty="0">
                  <a:solidFill>
                    <a:srgbClr val="0262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판매자</a:t>
              </a: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422B696-CE8F-4274-96CF-7219CC509879}"/>
              </a:ext>
            </a:extLst>
          </p:cNvPr>
          <p:cNvGrpSpPr/>
          <p:nvPr/>
        </p:nvGrpSpPr>
        <p:grpSpPr>
          <a:xfrm>
            <a:off x="9758157" y="2465921"/>
            <a:ext cx="2005628" cy="1878558"/>
            <a:chOff x="7174613" y="2370318"/>
            <a:chExt cx="2927335" cy="2826791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2D0A37CE-DE3E-4A53-85F0-005E99D038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27251" b="77979" l="27533" r="80521"/>
                      </a14:imgEffect>
                    </a14:imgLayer>
                  </a14:imgProps>
                </a:ext>
              </a:extLst>
            </a:blip>
            <a:srcRect l="20910" t="20910" r="12856" b="15680"/>
            <a:stretch/>
          </p:blipFill>
          <p:spPr>
            <a:xfrm>
              <a:off x="7454254" y="2370318"/>
              <a:ext cx="2647694" cy="2534844"/>
            </a:xfrm>
            <a:prstGeom prst="rect">
              <a:avLst/>
            </a:prstGeom>
          </p:spPr>
        </p:pic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71DBE38-64DC-4B46-B2BD-EF582DDEB638}"/>
                </a:ext>
              </a:extLst>
            </p:cNvPr>
            <p:cNvSpPr/>
            <p:nvPr/>
          </p:nvSpPr>
          <p:spPr>
            <a:xfrm>
              <a:off x="7174613" y="2370318"/>
              <a:ext cx="2812215" cy="2812215"/>
            </a:xfrm>
            <a:prstGeom prst="ellipse">
              <a:avLst/>
            </a:prstGeom>
            <a:noFill/>
            <a:ln w="38100">
              <a:solidFill>
                <a:srgbClr val="0262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42EC6736-D745-492B-8098-D0687F14C110}"/>
                </a:ext>
              </a:extLst>
            </p:cNvPr>
            <p:cNvSpPr txBox="1"/>
            <p:nvPr/>
          </p:nvSpPr>
          <p:spPr>
            <a:xfrm>
              <a:off x="7962396" y="4595037"/>
              <a:ext cx="1301331" cy="60207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2000" b="1" dirty="0">
                  <a:latin typeface="Noto Sans KR" panose="020B0200000000000000" pitchFamily="50" charset="-127"/>
                  <a:ea typeface="Noto Sans KR" panose="020B0200000000000000" pitchFamily="50" charset="-127"/>
                </a:rPr>
                <a:t>소비자</a:t>
              </a:r>
            </a:p>
          </p:txBody>
        </p:sp>
      </p:grp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5ED0DDB-0B80-4936-A13A-BD699A5D67E2}"/>
              </a:ext>
            </a:extLst>
          </p:cNvPr>
          <p:cNvSpPr/>
          <p:nvPr/>
        </p:nvSpPr>
        <p:spPr>
          <a:xfrm>
            <a:off x="2830286" y="3744686"/>
            <a:ext cx="1571995" cy="247802"/>
          </a:xfrm>
          <a:prstGeom prst="rightArrow">
            <a:avLst/>
          </a:prstGeom>
          <a:solidFill>
            <a:srgbClr val="02625C"/>
          </a:solidFill>
          <a:ln>
            <a:solidFill>
              <a:srgbClr val="026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8" name="화살표: 오른쪽 17">
            <a:extLst>
              <a:ext uri="{FF2B5EF4-FFF2-40B4-BE49-F238E27FC236}">
                <a16:creationId xmlns:a16="http://schemas.microsoft.com/office/drawing/2014/main" id="{89F1E260-9438-4082-8167-200A2CF9E56A}"/>
              </a:ext>
            </a:extLst>
          </p:cNvPr>
          <p:cNvSpPr/>
          <p:nvPr/>
        </p:nvSpPr>
        <p:spPr>
          <a:xfrm>
            <a:off x="7896967" y="3026409"/>
            <a:ext cx="1571995" cy="247802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19" name="화살표: 오른쪽 18">
            <a:extLst>
              <a:ext uri="{FF2B5EF4-FFF2-40B4-BE49-F238E27FC236}">
                <a16:creationId xmlns:a16="http://schemas.microsoft.com/office/drawing/2014/main" id="{16D5807A-D237-4BC2-9154-2656D782C8C4}"/>
              </a:ext>
            </a:extLst>
          </p:cNvPr>
          <p:cNvSpPr/>
          <p:nvPr/>
        </p:nvSpPr>
        <p:spPr>
          <a:xfrm rot="10800000">
            <a:off x="7950542" y="3744686"/>
            <a:ext cx="1571995" cy="247802"/>
          </a:xfrm>
          <a:prstGeom prst="rightArrow">
            <a:avLst/>
          </a:prstGeom>
          <a:solidFill>
            <a:srgbClr val="02625C"/>
          </a:solidFill>
          <a:ln>
            <a:solidFill>
              <a:srgbClr val="026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1DD8912-057B-4B04-B04A-5A0A0DC58DE9}"/>
              </a:ext>
            </a:extLst>
          </p:cNvPr>
          <p:cNvSpPr/>
          <p:nvPr/>
        </p:nvSpPr>
        <p:spPr>
          <a:xfrm rot="10800000">
            <a:off x="2789649" y="3039684"/>
            <a:ext cx="1571995" cy="247802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2FC29-E855-4693-B850-AE3BA5A41462}"/>
              </a:ext>
            </a:extLst>
          </p:cNvPr>
          <p:cNvSpPr txBox="1"/>
          <p:nvPr/>
        </p:nvSpPr>
        <p:spPr>
          <a:xfrm>
            <a:off x="2607649" y="4131653"/>
            <a:ext cx="202651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노하우 업로드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83383F9-5440-4D50-9F9B-F73C953CFE0C}"/>
              </a:ext>
            </a:extLst>
          </p:cNvPr>
          <p:cNvSpPr txBox="1"/>
          <p:nvPr/>
        </p:nvSpPr>
        <p:spPr>
          <a:xfrm>
            <a:off x="7852520" y="4178362"/>
            <a:ext cx="17315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노하우 구매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111F61-48AA-4480-84DA-959673919FB7}"/>
              </a:ext>
            </a:extLst>
          </p:cNvPr>
          <p:cNvSpPr txBox="1"/>
          <p:nvPr/>
        </p:nvSpPr>
        <p:spPr>
          <a:xfrm>
            <a:off x="2566957" y="2410274"/>
            <a:ext cx="209865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판매 소득 제공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A5863C-53B9-45BD-955D-6254BBEE1771}"/>
              </a:ext>
            </a:extLst>
          </p:cNvPr>
          <p:cNvSpPr txBox="1"/>
          <p:nvPr/>
        </p:nvSpPr>
        <p:spPr>
          <a:xfrm>
            <a:off x="7848566" y="2418306"/>
            <a:ext cx="173156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결과물 제공</a:t>
            </a:r>
          </a:p>
        </p:txBody>
      </p:sp>
    </p:spTree>
    <p:extLst>
      <p:ext uri="{BB962C8B-B14F-4D97-AF65-F5344CB8AC3E}">
        <p14:creationId xmlns:p14="http://schemas.microsoft.com/office/powerpoint/2010/main" val="8554679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87;p15">
            <a:extLst>
              <a:ext uri="{FF2B5EF4-FFF2-40B4-BE49-F238E27FC236}">
                <a16:creationId xmlns:a16="http://schemas.microsoft.com/office/drawing/2014/main" id="{5DD6F11C-90DE-4ED9-99BE-06A38E00DCF3}"/>
              </a:ext>
            </a:extLst>
          </p:cNvPr>
          <p:cNvSpPr/>
          <p:nvPr/>
        </p:nvSpPr>
        <p:spPr>
          <a:xfrm>
            <a:off x="6096000" y="3754856"/>
            <a:ext cx="4401007" cy="2113302"/>
          </a:xfrm>
          <a:prstGeom prst="roundRect">
            <a:avLst>
              <a:gd name="adj" fmla="val 18362"/>
            </a:avLst>
          </a:prstGeom>
          <a:solidFill>
            <a:srgbClr val="FFFFFF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16200000" algn="bl" rotWithShape="0">
              <a:srgbClr val="000000">
                <a:alpha val="313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202;p13">
            <a:extLst>
              <a:ext uri="{FF2B5EF4-FFF2-40B4-BE49-F238E27FC236}">
                <a16:creationId xmlns:a16="http://schemas.microsoft.com/office/drawing/2014/main" id="{A3A06473-FA82-4FFE-A7A5-97CA585291BE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04.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수익구조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5CA2C96A-BED3-4CC9-B60F-F70FA5F03794}"/>
              </a:ext>
            </a:extLst>
          </p:cNvPr>
          <p:cNvGrpSpPr/>
          <p:nvPr/>
        </p:nvGrpSpPr>
        <p:grpSpPr>
          <a:xfrm>
            <a:off x="592428" y="2254897"/>
            <a:ext cx="2005628" cy="2099713"/>
            <a:chOff x="2101914" y="2038197"/>
            <a:chExt cx="3034562" cy="3159580"/>
          </a:xfrm>
        </p:grpSpPr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00BC7AC8-2179-4655-9B77-CBEA45A43EBD}"/>
                </a:ext>
              </a:extLst>
            </p:cNvPr>
            <p:cNvSpPr/>
            <p:nvPr/>
          </p:nvSpPr>
          <p:spPr>
            <a:xfrm>
              <a:off x="2101914" y="2370318"/>
              <a:ext cx="2812215" cy="2812215"/>
            </a:xfrm>
            <a:prstGeom prst="ellipse">
              <a:avLst/>
            </a:prstGeom>
            <a:noFill/>
            <a:ln w="38100">
              <a:solidFill>
                <a:srgbClr val="02625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Noto Sans KR" panose="020B0200000000000000" pitchFamily="50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79CA397C-9DCE-43F8-B4D8-4B7EBBD24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01914" y="2038197"/>
              <a:ext cx="3034562" cy="3034562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6E956D-9659-4E56-8F42-FFB862D89A53}"/>
                </a:ext>
              </a:extLst>
            </p:cNvPr>
            <p:cNvSpPr txBox="1"/>
            <p:nvPr/>
          </p:nvSpPr>
          <p:spPr>
            <a:xfrm>
              <a:off x="2894339" y="4595704"/>
              <a:ext cx="1348998" cy="60207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ko-KR" altLang="en-US" sz="2000" b="1" dirty="0">
                  <a:solidFill>
                    <a:srgbClr val="02625C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판매자</a:t>
              </a:r>
            </a:p>
          </p:txBody>
        </p:sp>
      </p:grp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15ED0DDB-0B80-4936-A13A-BD699A5D67E2}"/>
              </a:ext>
            </a:extLst>
          </p:cNvPr>
          <p:cNvSpPr/>
          <p:nvPr/>
        </p:nvSpPr>
        <p:spPr>
          <a:xfrm>
            <a:off x="2830286" y="3744686"/>
            <a:ext cx="1571995" cy="247802"/>
          </a:xfrm>
          <a:prstGeom prst="rightArrow">
            <a:avLst/>
          </a:prstGeom>
          <a:solidFill>
            <a:srgbClr val="02625C"/>
          </a:solidFill>
          <a:ln>
            <a:solidFill>
              <a:srgbClr val="02625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21DD8912-057B-4B04-B04A-5A0A0DC58DE9}"/>
              </a:ext>
            </a:extLst>
          </p:cNvPr>
          <p:cNvSpPr/>
          <p:nvPr/>
        </p:nvSpPr>
        <p:spPr>
          <a:xfrm rot="10800000">
            <a:off x="2789649" y="3039684"/>
            <a:ext cx="1571995" cy="247802"/>
          </a:xfrm>
          <a:prstGeom prst="rightArrow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Noto Sans KR" panose="020B0200000000000000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2FC29-E855-4693-B850-AE3BA5A41462}"/>
              </a:ext>
            </a:extLst>
          </p:cNvPr>
          <p:cNvSpPr txBox="1"/>
          <p:nvPr/>
        </p:nvSpPr>
        <p:spPr>
          <a:xfrm>
            <a:off x="2607649" y="4131653"/>
            <a:ext cx="202651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노하우 업로드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2111F61-48AA-4480-84DA-959673919FB7}"/>
              </a:ext>
            </a:extLst>
          </p:cNvPr>
          <p:cNvSpPr txBox="1"/>
          <p:nvPr/>
        </p:nvSpPr>
        <p:spPr>
          <a:xfrm>
            <a:off x="2566957" y="2410274"/>
            <a:ext cx="209865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500" b="1" dirty="0">
                <a:latin typeface="Noto Sans KR" panose="020B0200000000000000" pitchFamily="50" charset="-127"/>
                <a:ea typeface="Noto Sans KR" panose="020B0200000000000000" pitchFamily="50" charset="-127"/>
              </a:rPr>
              <a:t>판매 소득 제공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7D074ED-7692-4B2C-BEFC-8D3CD6419A79}"/>
              </a:ext>
            </a:extLst>
          </p:cNvPr>
          <p:cNvSpPr txBox="1"/>
          <p:nvPr/>
        </p:nvSpPr>
        <p:spPr>
          <a:xfrm>
            <a:off x="6890457" y="4846632"/>
            <a:ext cx="26564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이미지 회당 평균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60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</a:t>
            </a:r>
            <a:endParaRPr lang="en-US" altLang="ko-KR" sz="20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l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문서 평균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: 1200</a:t>
            </a:r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원</a:t>
            </a:r>
          </a:p>
        </p:txBody>
      </p:sp>
      <p:sp>
        <p:nvSpPr>
          <p:cNvPr id="25" name="Google Shape;286;p15">
            <a:extLst>
              <a:ext uri="{FF2B5EF4-FFF2-40B4-BE49-F238E27FC236}">
                <a16:creationId xmlns:a16="http://schemas.microsoft.com/office/drawing/2014/main" id="{7EABACA8-D9F0-4F28-BF1C-4999C15B56FC}"/>
              </a:ext>
            </a:extLst>
          </p:cNvPr>
          <p:cNvSpPr/>
          <p:nvPr/>
        </p:nvSpPr>
        <p:spPr>
          <a:xfrm>
            <a:off x="6096000" y="1224976"/>
            <a:ext cx="4401007" cy="1805610"/>
          </a:xfrm>
          <a:prstGeom prst="roundRect">
            <a:avLst>
              <a:gd name="adj" fmla="val 18362"/>
            </a:avLst>
          </a:prstGeom>
          <a:solidFill>
            <a:srgbClr val="FFFFFF"/>
          </a:solidFill>
          <a:ln w="12700" cap="flat" cmpd="sng">
            <a:solidFill>
              <a:srgbClr val="EAEAEA"/>
            </a:solidFill>
            <a:prstDash val="solid"/>
            <a:round/>
            <a:headEnd type="none" w="sm" len="sm"/>
            <a:tailEnd type="none" w="sm" len="sm"/>
          </a:ln>
          <a:effectLst>
            <a:outerShdw blurRad="114300" dist="38100" dir="16200000" algn="bl" rotWithShape="0">
              <a:srgbClr val="000000">
                <a:alpha val="313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7" name="Google Shape;299;p15">
            <a:extLst>
              <a:ext uri="{FF2B5EF4-FFF2-40B4-BE49-F238E27FC236}">
                <a16:creationId xmlns:a16="http://schemas.microsoft.com/office/drawing/2014/main" id="{649F12FC-DEF8-4820-80CD-3167139C467F}"/>
              </a:ext>
            </a:extLst>
          </p:cNvPr>
          <p:cNvSpPr/>
          <p:nvPr/>
        </p:nvSpPr>
        <p:spPr>
          <a:xfrm>
            <a:off x="6324600" y="1501125"/>
            <a:ext cx="495605" cy="495605"/>
          </a:xfrm>
          <a:prstGeom prst="ellipse">
            <a:avLst/>
          </a:prstGeom>
          <a:solidFill>
            <a:srgbClr val="E6F2F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28" name="Google Shape;300;p15" descr="gen-dedup-fdc53303cd0d2dee89fb125cbb49d3f6.png">
            <a:extLst>
              <a:ext uri="{FF2B5EF4-FFF2-40B4-BE49-F238E27FC236}">
                <a16:creationId xmlns:a16="http://schemas.microsoft.com/office/drawing/2014/main" id="{EFE0FA71-FD49-42D7-A95E-FC6675B08B40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-13755" r="-13755"/>
          <a:stretch/>
        </p:blipFill>
        <p:spPr>
          <a:xfrm>
            <a:off x="6472733" y="1643771"/>
            <a:ext cx="200254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301;p15">
            <a:extLst>
              <a:ext uri="{FF2B5EF4-FFF2-40B4-BE49-F238E27FC236}">
                <a16:creationId xmlns:a16="http://schemas.microsoft.com/office/drawing/2014/main" id="{C952E3FA-DEEF-4F93-86EA-A456D8C05EFC}"/>
              </a:ext>
            </a:extLst>
          </p:cNvPr>
          <p:cNvSpPr txBox="1"/>
          <p:nvPr/>
        </p:nvSpPr>
        <p:spPr>
          <a:xfrm>
            <a:off x="6968835" y="1481465"/>
            <a:ext cx="3160531" cy="534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Noto Sans KR"/>
              <a:buNone/>
            </a:pPr>
            <a:r>
              <a:rPr lang="en-US" sz="25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템플릿</a:t>
            </a:r>
            <a:r>
              <a:rPr lang="en-US" sz="25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판매</a:t>
            </a:r>
            <a:r>
              <a:rPr lang="en-US" sz="25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수수료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03;p15">
            <a:extLst>
              <a:ext uri="{FF2B5EF4-FFF2-40B4-BE49-F238E27FC236}">
                <a16:creationId xmlns:a16="http://schemas.microsoft.com/office/drawing/2014/main" id="{1D0376F2-8077-4EAD-A6EE-1ACB74E55F9F}"/>
              </a:ext>
            </a:extLst>
          </p:cNvPr>
          <p:cNvSpPr/>
          <p:nvPr/>
        </p:nvSpPr>
        <p:spPr>
          <a:xfrm>
            <a:off x="6324600" y="4031005"/>
            <a:ext cx="495605" cy="495605"/>
          </a:xfrm>
          <a:prstGeom prst="ellipse">
            <a:avLst/>
          </a:prstGeom>
          <a:solidFill>
            <a:srgbClr val="E6F2F1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pic>
        <p:nvPicPr>
          <p:cNvPr id="32" name="Google Shape;304;p15" descr="gen-dedup-104047320c552bc641114da4845bbb5a.png">
            <a:extLst>
              <a:ext uri="{FF2B5EF4-FFF2-40B4-BE49-F238E27FC236}">
                <a16:creationId xmlns:a16="http://schemas.microsoft.com/office/drawing/2014/main" id="{B94F6957-3267-4BBD-B0A7-A06B35B9CF7E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-7143" r="-7143"/>
          <a:stretch/>
        </p:blipFill>
        <p:spPr>
          <a:xfrm>
            <a:off x="6468161" y="4173652"/>
            <a:ext cx="209398" cy="209398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05;p15">
            <a:extLst>
              <a:ext uri="{FF2B5EF4-FFF2-40B4-BE49-F238E27FC236}">
                <a16:creationId xmlns:a16="http://schemas.microsoft.com/office/drawing/2014/main" id="{E9AAA0B7-F47F-4D02-B2FA-F47F84500EFB}"/>
              </a:ext>
            </a:extLst>
          </p:cNvPr>
          <p:cNvSpPr txBox="1"/>
          <p:nvPr/>
        </p:nvSpPr>
        <p:spPr>
          <a:xfrm>
            <a:off x="7046001" y="4059079"/>
            <a:ext cx="2982686" cy="495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600"/>
              <a:buFont typeface="Noto Sans KR"/>
              <a:buNone/>
            </a:pPr>
            <a:r>
              <a:rPr lang="en-US" sz="25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실행</a:t>
            </a:r>
            <a:r>
              <a:rPr lang="en-US" sz="25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25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25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크레딧</a:t>
            </a:r>
            <a:endParaRPr sz="25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0945A08-46CE-46B6-8F7B-4FCE26490BA1}"/>
              </a:ext>
            </a:extLst>
          </p:cNvPr>
          <p:cNvSpPr txBox="1"/>
          <p:nvPr/>
        </p:nvSpPr>
        <p:spPr>
          <a:xfrm>
            <a:off x="6890457" y="2281137"/>
            <a:ext cx="19688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0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판매금액의 </a:t>
            </a:r>
            <a:r>
              <a:rPr lang="en-US" altLang="ko-KR" sz="2000" dirty="0">
                <a:solidFill>
                  <a:schemeClr val="bg1">
                    <a:lumMod val="50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15%</a:t>
            </a:r>
            <a:endParaRPr lang="ko-KR" altLang="en-US" sz="2000" dirty="0">
              <a:solidFill>
                <a:schemeClr val="bg1">
                  <a:lumMod val="50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028505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8269CD5-2E0B-4B60-B2A4-BB8CAD9C8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8811" y="481964"/>
            <a:ext cx="5894071" cy="5894071"/>
          </a:xfrm>
          <a:prstGeom prst="rect">
            <a:avLst/>
          </a:prstGeom>
        </p:spPr>
      </p:pic>
      <p:sp>
        <p:nvSpPr>
          <p:cNvPr id="6" name="Google Shape;202;p13">
            <a:extLst>
              <a:ext uri="{FF2B5EF4-FFF2-40B4-BE49-F238E27FC236}">
                <a16:creationId xmlns:a16="http://schemas.microsoft.com/office/drawing/2014/main" id="{8B055707-7173-45DB-8176-608BDCA2465C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04.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수익구조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07812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721379E-E9D2-43C4-8B19-971E2EF81744}"/>
              </a:ext>
            </a:extLst>
          </p:cNvPr>
          <p:cNvSpPr txBox="1"/>
          <p:nvPr/>
        </p:nvSpPr>
        <p:spPr>
          <a:xfrm>
            <a:off x="4513790" y="3075057"/>
            <a:ext cx="31641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000" b="1" dirty="0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5. </a:t>
            </a:r>
            <a:r>
              <a:rPr lang="ko-KR" altLang="en-US" sz="4000" b="1" dirty="0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성장 전략</a:t>
            </a:r>
          </a:p>
        </p:txBody>
      </p:sp>
    </p:spTree>
    <p:extLst>
      <p:ext uri="{BB962C8B-B14F-4D97-AF65-F5344CB8AC3E}">
        <p14:creationId xmlns:p14="http://schemas.microsoft.com/office/powerpoint/2010/main" val="21067109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1AC5D4F-9524-466B-ACB9-1A739AEAD9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196" y="1694997"/>
            <a:ext cx="7894217" cy="45920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D5BC9C-7AE4-4A78-8654-61D5590C10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5782" y="5309968"/>
            <a:ext cx="1384558" cy="97709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3FA698D3-E7B4-42BB-B150-4F2E55997F3A}"/>
              </a:ext>
            </a:extLst>
          </p:cNvPr>
          <p:cNvSpPr txBox="1"/>
          <p:nvPr/>
        </p:nvSpPr>
        <p:spPr>
          <a:xfrm>
            <a:off x="1390196" y="1276502"/>
            <a:ext cx="3504379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6235"/>
              </a:lnSpc>
              <a:spcBef>
                <a:spcPct val="0"/>
              </a:spcBef>
            </a:pPr>
            <a:r>
              <a:rPr lang="ko-KR" altLang="en-US" sz="4000" b="1" spc="-8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프롬프트 시장 </a:t>
            </a:r>
            <a:endParaRPr lang="en-US" altLang="ko-KR" sz="4000" b="1" spc="-89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  <a:p>
            <a:pPr marL="0" lvl="0" indent="0">
              <a:lnSpc>
                <a:spcPts val="6235"/>
              </a:lnSpc>
              <a:spcBef>
                <a:spcPct val="0"/>
              </a:spcBef>
            </a:pPr>
            <a:r>
              <a:rPr lang="en-US" altLang="ko-KR" sz="6000" b="1" spc="-89" dirty="0">
                <a:solidFill>
                  <a:srgbClr val="45A21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11</a:t>
            </a:r>
            <a:r>
              <a:rPr lang="ko-KR" altLang="en-US" sz="6000" b="1" spc="-89" dirty="0">
                <a:solidFill>
                  <a:srgbClr val="45A216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배 </a:t>
            </a:r>
            <a:r>
              <a:rPr lang="ko-KR" altLang="en-US" sz="4000" b="1" spc="-89" dirty="0">
                <a:solidFill>
                  <a:schemeClr val="tx1">
                    <a:lumMod val="95000"/>
                    <a:lumOff val="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상승</a:t>
            </a:r>
            <a:endParaRPr lang="en-US" sz="4000" b="1" spc="-89" dirty="0">
              <a:solidFill>
                <a:schemeClr val="tx1">
                  <a:lumMod val="95000"/>
                  <a:lumOff val="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7" name="Google Shape;202;p13">
            <a:extLst>
              <a:ext uri="{FF2B5EF4-FFF2-40B4-BE49-F238E27FC236}">
                <a16:creationId xmlns:a16="http://schemas.microsoft.com/office/drawing/2014/main" id="{F7FC7DB8-A386-4B9E-ACCE-129AFF4CC20D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05.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성장전략 및 향후 계획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231730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02;p13">
            <a:extLst>
              <a:ext uri="{FF2B5EF4-FFF2-40B4-BE49-F238E27FC236}">
                <a16:creationId xmlns:a16="http://schemas.microsoft.com/office/drawing/2014/main" id="{F7FC7DB8-A386-4B9E-ACCE-129AFF4CC20D}"/>
              </a:ext>
            </a:extLst>
          </p:cNvPr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05.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성장전략 및 향후 계획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roup 2">
            <a:extLst>
              <a:ext uri="{FF2B5EF4-FFF2-40B4-BE49-F238E27FC236}">
                <a16:creationId xmlns:a16="http://schemas.microsoft.com/office/drawing/2014/main" id="{80A42967-8AC0-401A-818A-61317FA2A8C4}"/>
              </a:ext>
            </a:extLst>
          </p:cNvPr>
          <p:cNvGrpSpPr/>
          <p:nvPr/>
        </p:nvGrpSpPr>
        <p:grpSpPr>
          <a:xfrm>
            <a:off x="1174533" y="3183856"/>
            <a:ext cx="1951180" cy="1143117"/>
            <a:chOff x="0" y="0"/>
            <a:chExt cx="1192938" cy="556704"/>
          </a:xfrm>
        </p:grpSpPr>
        <p:sp>
          <p:nvSpPr>
            <p:cNvPr id="9" name="Freeform 3">
              <a:extLst>
                <a:ext uri="{FF2B5EF4-FFF2-40B4-BE49-F238E27FC236}">
                  <a16:creationId xmlns:a16="http://schemas.microsoft.com/office/drawing/2014/main" id="{E7FD48B2-14CD-47F8-AA10-9C3097C795E5}"/>
                </a:ext>
              </a:extLst>
            </p:cNvPr>
            <p:cNvSpPr/>
            <p:nvPr/>
          </p:nvSpPr>
          <p:spPr>
            <a:xfrm>
              <a:off x="0" y="0"/>
              <a:ext cx="1192938" cy="556704"/>
            </a:xfrm>
            <a:custGeom>
              <a:avLst/>
              <a:gdLst/>
              <a:ahLst/>
              <a:cxnLst/>
              <a:rect l="l" t="t" r="r" b="b"/>
              <a:pathLst>
                <a:path w="1192938" h="556704">
                  <a:moveTo>
                    <a:pt x="124629" y="0"/>
                  </a:moveTo>
                  <a:lnTo>
                    <a:pt x="1068309" y="0"/>
                  </a:lnTo>
                  <a:cubicBezTo>
                    <a:pt x="1101362" y="0"/>
                    <a:pt x="1133062" y="13131"/>
                    <a:pt x="1156435" y="36503"/>
                  </a:cubicBezTo>
                  <a:cubicBezTo>
                    <a:pt x="1179807" y="59876"/>
                    <a:pt x="1192938" y="91576"/>
                    <a:pt x="1192938" y="124629"/>
                  </a:cubicBezTo>
                  <a:lnTo>
                    <a:pt x="1192938" y="432075"/>
                  </a:lnTo>
                  <a:cubicBezTo>
                    <a:pt x="1192938" y="465129"/>
                    <a:pt x="1179807" y="496829"/>
                    <a:pt x="1156435" y="520201"/>
                  </a:cubicBezTo>
                  <a:cubicBezTo>
                    <a:pt x="1133062" y="543574"/>
                    <a:pt x="1101362" y="556704"/>
                    <a:pt x="1068309" y="556704"/>
                  </a:cubicBezTo>
                  <a:lnTo>
                    <a:pt x="124629" y="556704"/>
                  </a:lnTo>
                  <a:cubicBezTo>
                    <a:pt x="91576" y="556704"/>
                    <a:pt x="59876" y="543574"/>
                    <a:pt x="36503" y="520201"/>
                  </a:cubicBezTo>
                  <a:cubicBezTo>
                    <a:pt x="13131" y="496829"/>
                    <a:pt x="0" y="465129"/>
                    <a:pt x="0" y="432075"/>
                  </a:cubicBezTo>
                  <a:lnTo>
                    <a:pt x="0" y="124629"/>
                  </a:lnTo>
                  <a:cubicBezTo>
                    <a:pt x="0" y="91576"/>
                    <a:pt x="13131" y="59876"/>
                    <a:pt x="36503" y="36503"/>
                  </a:cubicBezTo>
                  <a:cubicBezTo>
                    <a:pt x="59876" y="13131"/>
                    <a:pt x="91576" y="0"/>
                    <a:pt x="124629" y="0"/>
                  </a:cubicBezTo>
                  <a:close/>
                </a:path>
              </a:pathLst>
            </a:custGeom>
            <a:solidFill>
              <a:srgbClr val="F7F7F7"/>
            </a:solidFill>
          </p:spPr>
          <p:txBody>
            <a:bodyPr/>
            <a:lstStyle/>
            <a:p>
              <a:endPara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0" name="TextBox 4">
              <a:extLst>
                <a:ext uri="{FF2B5EF4-FFF2-40B4-BE49-F238E27FC236}">
                  <a16:creationId xmlns:a16="http://schemas.microsoft.com/office/drawing/2014/main" id="{05E1AC41-3593-47B9-B53F-B3252860843F}"/>
                </a:ext>
              </a:extLst>
            </p:cNvPr>
            <p:cNvSpPr txBox="1"/>
            <p:nvPr/>
          </p:nvSpPr>
          <p:spPr>
            <a:xfrm>
              <a:off x="0" y="-190500"/>
              <a:ext cx="1192938" cy="747204"/>
            </a:xfrm>
            <a:prstGeom prst="rect">
              <a:avLst/>
            </a:prstGeom>
          </p:spPr>
          <p:txBody>
            <a:bodyPr lIns="42933" tIns="42933" rIns="42933" bIns="42933" rtlCol="0" anchor="ctr"/>
            <a:lstStyle/>
            <a:p>
              <a:pPr algn="ctr">
                <a:lnSpc>
                  <a:spcPts val="4800"/>
                </a:lnSpc>
              </a:pPr>
              <a:endParaRPr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1" name="Group 5">
            <a:extLst>
              <a:ext uri="{FF2B5EF4-FFF2-40B4-BE49-F238E27FC236}">
                <a16:creationId xmlns:a16="http://schemas.microsoft.com/office/drawing/2014/main" id="{AB060FFC-C5BA-4361-A899-DB2B7D408A7E}"/>
              </a:ext>
            </a:extLst>
          </p:cNvPr>
          <p:cNvGrpSpPr/>
          <p:nvPr/>
        </p:nvGrpSpPr>
        <p:grpSpPr>
          <a:xfrm>
            <a:off x="5283507" y="3192759"/>
            <a:ext cx="2068385" cy="1143117"/>
            <a:chOff x="0" y="0"/>
            <a:chExt cx="1192938" cy="556704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AAC5362-E806-4483-BFE2-78215F948888}"/>
                </a:ext>
              </a:extLst>
            </p:cNvPr>
            <p:cNvSpPr/>
            <p:nvPr/>
          </p:nvSpPr>
          <p:spPr>
            <a:xfrm>
              <a:off x="0" y="0"/>
              <a:ext cx="1192938" cy="556704"/>
            </a:xfrm>
            <a:custGeom>
              <a:avLst/>
              <a:gdLst/>
              <a:ahLst/>
              <a:cxnLst/>
              <a:rect l="l" t="t" r="r" b="b"/>
              <a:pathLst>
                <a:path w="1192938" h="556704">
                  <a:moveTo>
                    <a:pt x="124629" y="0"/>
                  </a:moveTo>
                  <a:lnTo>
                    <a:pt x="1068309" y="0"/>
                  </a:lnTo>
                  <a:cubicBezTo>
                    <a:pt x="1101362" y="0"/>
                    <a:pt x="1133062" y="13131"/>
                    <a:pt x="1156435" y="36503"/>
                  </a:cubicBezTo>
                  <a:cubicBezTo>
                    <a:pt x="1179807" y="59876"/>
                    <a:pt x="1192938" y="91576"/>
                    <a:pt x="1192938" y="124629"/>
                  </a:cubicBezTo>
                  <a:lnTo>
                    <a:pt x="1192938" y="432075"/>
                  </a:lnTo>
                  <a:cubicBezTo>
                    <a:pt x="1192938" y="465129"/>
                    <a:pt x="1179807" y="496829"/>
                    <a:pt x="1156435" y="520201"/>
                  </a:cubicBezTo>
                  <a:cubicBezTo>
                    <a:pt x="1133062" y="543574"/>
                    <a:pt x="1101362" y="556704"/>
                    <a:pt x="1068309" y="556704"/>
                  </a:cubicBezTo>
                  <a:lnTo>
                    <a:pt x="124629" y="556704"/>
                  </a:lnTo>
                  <a:cubicBezTo>
                    <a:pt x="91576" y="556704"/>
                    <a:pt x="59876" y="543574"/>
                    <a:pt x="36503" y="520201"/>
                  </a:cubicBezTo>
                  <a:cubicBezTo>
                    <a:pt x="13131" y="496829"/>
                    <a:pt x="0" y="465129"/>
                    <a:pt x="0" y="432075"/>
                  </a:cubicBezTo>
                  <a:lnTo>
                    <a:pt x="0" y="124629"/>
                  </a:lnTo>
                  <a:cubicBezTo>
                    <a:pt x="0" y="91576"/>
                    <a:pt x="13131" y="59876"/>
                    <a:pt x="36503" y="36503"/>
                  </a:cubicBezTo>
                  <a:cubicBezTo>
                    <a:pt x="59876" y="13131"/>
                    <a:pt x="91576" y="0"/>
                    <a:pt x="124629" y="0"/>
                  </a:cubicBezTo>
                  <a:close/>
                </a:path>
              </a:pathLst>
            </a:custGeom>
            <a:solidFill>
              <a:srgbClr val="F7F7F7"/>
            </a:solidFill>
          </p:spPr>
          <p:txBody>
            <a:bodyPr/>
            <a:lstStyle/>
            <a:p>
              <a:endPara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3" name="TextBox 7">
              <a:extLst>
                <a:ext uri="{FF2B5EF4-FFF2-40B4-BE49-F238E27FC236}">
                  <a16:creationId xmlns:a16="http://schemas.microsoft.com/office/drawing/2014/main" id="{016771EB-1707-4D7C-96BF-DDCEC582BC7B}"/>
                </a:ext>
              </a:extLst>
            </p:cNvPr>
            <p:cNvSpPr txBox="1"/>
            <p:nvPr/>
          </p:nvSpPr>
          <p:spPr>
            <a:xfrm>
              <a:off x="0" y="-190500"/>
              <a:ext cx="1192938" cy="747204"/>
            </a:xfrm>
            <a:prstGeom prst="rect">
              <a:avLst/>
            </a:prstGeom>
          </p:spPr>
          <p:txBody>
            <a:bodyPr lIns="42933" tIns="42933" rIns="42933" bIns="42933" rtlCol="0" anchor="ctr"/>
            <a:lstStyle/>
            <a:p>
              <a:pPr algn="ctr">
                <a:lnSpc>
                  <a:spcPts val="4800"/>
                </a:lnSpc>
              </a:pPr>
              <a:endParaRPr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4" name="Group 8">
            <a:extLst>
              <a:ext uri="{FF2B5EF4-FFF2-40B4-BE49-F238E27FC236}">
                <a16:creationId xmlns:a16="http://schemas.microsoft.com/office/drawing/2014/main" id="{12DFF901-EA4A-42AF-87BD-EE3013D71A7C}"/>
              </a:ext>
            </a:extLst>
          </p:cNvPr>
          <p:cNvGrpSpPr/>
          <p:nvPr/>
        </p:nvGrpSpPr>
        <p:grpSpPr>
          <a:xfrm>
            <a:off x="9012977" y="3183856"/>
            <a:ext cx="2162946" cy="1143117"/>
            <a:chOff x="0" y="0"/>
            <a:chExt cx="1192938" cy="556704"/>
          </a:xfrm>
        </p:grpSpPr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9D17262-B5FC-4D68-A891-25E2E0DE2A65}"/>
                </a:ext>
              </a:extLst>
            </p:cNvPr>
            <p:cNvSpPr/>
            <p:nvPr/>
          </p:nvSpPr>
          <p:spPr>
            <a:xfrm>
              <a:off x="0" y="0"/>
              <a:ext cx="1192938" cy="556704"/>
            </a:xfrm>
            <a:custGeom>
              <a:avLst/>
              <a:gdLst/>
              <a:ahLst/>
              <a:cxnLst/>
              <a:rect l="l" t="t" r="r" b="b"/>
              <a:pathLst>
                <a:path w="1192938" h="556704">
                  <a:moveTo>
                    <a:pt x="124629" y="0"/>
                  </a:moveTo>
                  <a:lnTo>
                    <a:pt x="1068309" y="0"/>
                  </a:lnTo>
                  <a:cubicBezTo>
                    <a:pt x="1101362" y="0"/>
                    <a:pt x="1133062" y="13131"/>
                    <a:pt x="1156435" y="36503"/>
                  </a:cubicBezTo>
                  <a:cubicBezTo>
                    <a:pt x="1179807" y="59876"/>
                    <a:pt x="1192938" y="91576"/>
                    <a:pt x="1192938" y="124629"/>
                  </a:cubicBezTo>
                  <a:lnTo>
                    <a:pt x="1192938" y="432075"/>
                  </a:lnTo>
                  <a:cubicBezTo>
                    <a:pt x="1192938" y="465129"/>
                    <a:pt x="1179807" y="496829"/>
                    <a:pt x="1156435" y="520201"/>
                  </a:cubicBezTo>
                  <a:cubicBezTo>
                    <a:pt x="1133062" y="543574"/>
                    <a:pt x="1101362" y="556704"/>
                    <a:pt x="1068309" y="556704"/>
                  </a:cubicBezTo>
                  <a:lnTo>
                    <a:pt x="124629" y="556704"/>
                  </a:lnTo>
                  <a:cubicBezTo>
                    <a:pt x="91576" y="556704"/>
                    <a:pt x="59876" y="543574"/>
                    <a:pt x="36503" y="520201"/>
                  </a:cubicBezTo>
                  <a:cubicBezTo>
                    <a:pt x="13131" y="496829"/>
                    <a:pt x="0" y="465129"/>
                    <a:pt x="0" y="432075"/>
                  </a:cubicBezTo>
                  <a:lnTo>
                    <a:pt x="0" y="124629"/>
                  </a:lnTo>
                  <a:cubicBezTo>
                    <a:pt x="0" y="91576"/>
                    <a:pt x="13131" y="59876"/>
                    <a:pt x="36503" y="36503"/>
                  </a:cubicBezTo>
                  <a:cubicBezTo>
                    <a:pt x="59876" y="13131"/>
                    <a:pt x="91576" y="0"/>
                    <a:pt x="124629" y="0"/>
                  </a:cubicBezTo>
                  <a:close/>
                </a:path>
              </a:pathLst>
            </a:custGeom>
            <a:solidFill>
              <a:srgbClr val="F7F7F7"/>
            </a:solidFill>
          </p:spPr>
          <p:txBody>
            <a:bodyPr/>
            <a:lstStyle/>
            <a:p>
              <a:endPara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6" name="TextBox 10">
              <a:extLst>
                <a:ext uri="{FF2B5EF4-FFF2-40B4-BE49-F238E27FC236}">
                  <a16:creationId xmlns:a16="http://schemas.microsoft.com/office/drawing/2014/main" id="{AFF9F34B-76C0-40BF-8563-F38672791580}"/>
                </a:ext>
              </a:extLst>
            </p:cNvPr>
            <p:cNvSpPr txBox="1"/>
            <p:nvPr/>
          </p:nvSpPr>
          <p:spPr>
            <a:xfrm>
              <a:off x="0" y="-190500"/>
              <a:ext cx="1192938" cy="747204"/>
            </a:xfrm>
            <a:prstGeom prst="rect">
              <a:avLst/>
            </a:prstGeom>
          </p:spPr>
          <p:txBody>
            <a:bodyPr lIns="42933" tIns="42933" rIns="42933" bIns="42933" rtlCol="0" anchor="ctr"/>
            <a:lstStyle/>
            <a:p>
              <a:pPr algn="ctr">
                <a:lnSpc>
                  <a:spcPts val="4800"/>
                </a:lnSpc>
              </a:pPr>
              <a:endParaRPr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grpSp>
        <p:nvGrpSpPr>
          <p:cNvPr id="17" name="Group 14">
            <a:extLst>
              <a:ext uri="{FF2B5EF4-FFF2-40B4-BE49-F238E27FC236}">
                <a16:creationId xmlns:a16="http://schemas.microsoft.com/office/drawing/2014/main" id="{DEE3F772-1754-413E-BA5D-E35E394ED2FF}"/>
              </a:ext>
            </a:extLst>
          </p:cNvPr>
          <p:cNvGrpSpPr/>
          <p:nvPr/>
        </p:nvGrpSpPr>
        <p:grpSpPr>
          <a:xfrm>
            <a:off x="3791165" y="3399750"/>
            <a:ext cx="579807" cy="582061"/>
            <a:chOff x="0" y="0"/>
            <a:chExt cx="812800" cy="812800"/>
          </a:xfrm>
        </p:grpSpPr>
        <p:sp>
          <p:nvSpPr>
            <p:cNvPr id="18" name="Freeform 15">
              <a:extLst>
                <a:ext uri="{FF2B5EF4-FFF2-40B4-BE49-F238E27FC236}">
                  <a16:creationId xmlns:a16="http://schemas.microsoft.com/office/drawing/2014/main" id="{A49D1730-FF3D-495D-8FC3-7A7157809A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2625D"/>
            </a:solidFill>
          </p:spPr>
          <p:txBody>
            <a:bodyPr/>
            <a:lstStyle/>
            <a:p>
              <a:endPara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9" name="TextBox 16">
              <a:extLst>
                <a:ext uri="{FF2B5EF4-FFF2-40B4-BE49-F238E27FC236}">
                  <a16:creationId xmlns:a16="http://schemas.microsoft.com/office/drawing/2014/main" id="{EA581FA9-08CC-440B-9775-1230D19B1E80}"/>
                </a:ext>
              </a:extLst>
            </p:cNvPr>
            <p:cNvSpPr txBox="1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3" name="TextBox 20">
            <a:extLst>
              <a:ext uri="{FF2B5EF4-FFF2-40B4-BE49-F238E27FC236}">
                <a16:creationId xmlns:a16="http://schemas.microsoft.com/office/drawing/2014/main" id="{ACC287CE-AFCA-4A97-A605-79465B14B047}"/>
              </a:ext>
            </a:extLst>
          </p:cNvPr>
          <p:cNvSpPr txBox="1"/>
          <p:nvPr/>
        </p:nvSpPr>
        <p:spPr>
          <a:xfrm>
            <a:off x="1152849" y="3806156"/>
            <a:ext cx="1951180" cy="327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1800" b="1" u="none" strike="noStrike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시장</a:t>
            </a:r>
            <a:r>
              <a:rPr lang="en-US" sz="1800" b="1" u="none" strike="noStrike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 </a:t>
            </a:r>
            <a:r>
              <a:rPr lang="en-US" sz="1800" b="1" u="none" strike="noStrike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진입</a:t>
            </a:r>
            <a:endParaRPr lang="en-US" sz="1800" b="1" u="none" strike="noStrike" dirty="0">
              <a:solidFill>
                <a:srgbClr val="1C1C1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BDED2CF1-80DA-498F-86CC-B8470E4E3922}"/>
              </a:ext>
            </a:extLst>
          </p:cNvPr>
          <p:cNvSpPr txBox="1"/>
          <p:nvPr/>
        </p:nvSpPr>
        <p:spPr>
          <a:xfrm>
            <a:off x="1152849" y="3399757"/>
            <a:ext cx="1951180" cy="33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1800" b="1" spc="-40" dirty="0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Year 1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3497D13D-CFB1-45EC-9ECE-5DAC41C9BE0C}"/>
              </a:ext>
            </a:extLst>
          </p:cNvPr>
          <p:cNvSpPr txBox="1"/>
          <p:nvPr/>
        </p:nvSpPr>
        <p:spPr>
          <a:xfrm>
            <a:off x="1106604" y="4510479"/>
            <a:ext cx="2785904" cy="76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AI를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실무에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활용하는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기획자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,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마케터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,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디자이너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및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일반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크리에이터</a:t>
            </a:r>
            <a:endParaRPr lang="en-US" sz="1300" spc="-36" dirty="0">
              <a:solidFill>
                <a:srgbClr val="1C1C1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Bold" panose="020B0802040504020204" pitchFamily="34" charset="0"/>
              <a:sym typeface="Tlab 돋움 레귤러"/>
            </a:endParaRP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13DD3804-03D4-49D4-A82C-8E0220352CCB}"/>
              </a:ext>
            </a:extLst>
          </p:cNvPr>
          <p:cNvSpPr txBox="1"/>
          <p:nvPr/>
        </p:nvSpPr>
        <p:spPr>
          <a:xfrm>
            <a:off x="1106604" y="5454163"/>
            <a:ext cx="2785904" cy="117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거래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수수료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전면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무료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및 '</a:t>
            </a:r>
            <a:r>
              <a:rPr lang="en-US" sz="1300" b="1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구매</a:t>
            </a:r>
            <a:r>
              <a:rPr lang="en-US" sz="1300" b="1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 후 </a:t>
            </a:r>
            <a:r>
              <a:rPr lang="en-US" sz="1300" b="1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즉시</a:t>
            </a:r>
            <a:r>
              <a:rPr lang="en-US" sz="1300" b="1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 </a:t>
            </a:r>
            <a:r>
              <a:rPr lang="en-US" sz="1300" b="1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실행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'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환경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구축으로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폭발적인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유저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유입과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락인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(Lock-in)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유도</a:t>
            </a:r>
            <a:endParaRPr lang="en-US" sz="1300" spc="-36" dirty="0">
              <a:solidFill>
                <a:srgbClr val="1C1C1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Bold" panose="020B0802040504020204" pitchFamily="34" charset="0"/>
              <a:sym typeface="Tlab 돋움 레귤러"/>
            </a:endParaRP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5C58638C-2673-4E3A-A25C-A7C00E4A4F46}"/>
              </a:ext>
            </a:extLst>
          </p:cNvPr>
          <p:cNvSpPr txBox="1"/>
          <p:nvPr/>
        </p:nvSpPr>
        <p:spPr>
          <a:xfrm>
            <a:off x="540013" y="4577154"/>
            <a:ext cx="1658177" cy="317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1300" b="1" spc="-60" dirty="0" err="1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타겟</a:t>
            </a:r>
            <a:endParaRPr lang="en-US" sz="1300" b="1" spc="-60" dirty="0">
              <a:solidFill>
                <a:srgbClr val="02625D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Bold" panose="020B0802040504020204" pitchFamily="34" charset="0"/>
              <a:sym typeface="Tlab 돋움 레귤러 Bold"/>
            </a:endParaRP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5885916C-9CEB-4AD0-9C3D-12A9063FF164}"/>
              </a:ext>
            </a:extLst>
          </p:cNvPr>
          <p:cNvSpPr txBox="1"/>
          <p:nvPr/>
        </p:nvSpPr>
        <p:spPr>
          <a:xfrm>
            <a:off x="540013" y="5520838"/>
            <a:ext cx="1658177" cy="317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1300" b="1" spc="-60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전략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03B45389-78E9-4508-A21C-56FE57555FF8}"/>
              </a:ext>
            </a:extLst>
          </p:cNvPr>
          <p:cNvSpPr txBox="1"/>
          <p:nvPr/>
        </p:nvSpPr>
        <p:spPr>
          <a:xfrm>
            <a:off x="1812176" y="2025898"/>
            <a:ext cx="8583983" cy="77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40"/>
              </a:lnSpc>
              <a:spcBef>
                <a:spcPct val="0"/>
              </a:spcBef>
            </a:pP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'Land and Expand'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전략을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기반으로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초기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시장에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성공적으로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안착한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후,</a:t>
            </a:r>
          </a:p>
          <a:p>
            <a:pPr marL="0" lvl="0" indent="0" algn="ctr">
              <a:lnSpc>
                <a:spcPts val="3240"/>
              </a:lnSpc>
              <a:spcBef>
                <a:spcPct val="0"/>
              </a:spcBef>
            </a:pP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제품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고도화와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채널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다각화를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통해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시장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지배력을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빠르게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확대해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나갈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800" u="none" strike="noStrike" spc="-36" dirty="0" err="1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계획입니다</a:t>
            </a:r>
            <a:r>
              <a:rPr lang="en-US" sz="1800" u="none" strike="noStrike" spc="-36" dirty="0">
                <a:solidFill>
                  <a:srgbClr val="1C1C1C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"/>
              </a:rPr>
              <a:t>.</a:t>
            </a:r>
          </a:p>
        </p:txBody>
      </p:sp>
      <p:sp>
        <p:nvSpPr>
          <p:cNvPr id="30" name="TextBox 27">
            <a:extLst>
              <a:ext uri="{FF2B5EF4-FFF2-40B4-BE49-F238E27FC236}">
                <a16:creationId xmlns:a16="http://schemas.microsoft.com/office/drawing/2014/main" id="{A8EFEE4A-9EAE-409E-AAE6-11E01215DE72}"/>
              </a:ext>
            </a:extLst>
          </p:cNvPr>
          <p:cNvSpPr txBox="1"/>
          <p:nvPr/>
        </p:nvSpPr>
        <p:spPr>
          <a:xfrm>
            <a:off x="5559194" y="3760533"/>
            <a:ext cx="1343030" cy="327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1800" b="1" u="none" strike="noStrike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시장</a:t>
            </a:r>
            <a:r>
              <a:rPr lang="en-US" sz="1800" b="1" u="none" strike="noStrike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 </a:t>
            </a:r>
            <a:r>
              <a:rPr lang="en-US" sz="1800" b="1" u="none" strike="noStrike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확장</a:t>
            </a:r>
            <a:endParaRPr lang="en-US" sz="1800" b="1" u="none" strike="noStrike" dirty="0">
              <a:solidFill>
                <a:srgbClr val="1C1C1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31" name="TextBox 28">
            <a:extLst>
              <a:ext uri="{FF2B5EF4-FFF2-40B4-BE49-F238E27FC236}">
                <a16:creationId xmlns:a16="http://schemas.microsoft.com/office/drawing/2014/main" id="{F28C4676-9604-426B-AF0F-D1E48D6B2215}"/>
              </a:ext>
            </a:extLst>
          </p:cNvPr>
          <p:cNvSpPr txBox="1"/>
          <p:nvPr/>
        </p:nvSpPr>
        <p:spPr>
          <a:xfrm>
            <a:off x="5559194" y="3354134"/>
            <a:ext cx="1343030" cy="33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1800" b="1" spc="-40" dirty="0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Year 2-3</a:t>
            </a:r>
          </a:p>
        </p:txBody>
      </p:sp>
      <p:sp>
        <p:nvSpPr>
          <p:cNvPr id="32" name="TextBox 29">
            <a:extLst>
              <a:ext uri="{FF2B5EF4-FFF2-40B4-BE49-F238E27FC236}">
                <a16:creationId xmlns:a16="http://schemas.microsoft.com/office/drawing/2014/main" id="{E442C261-8089-4CC9-8D0B-4DD084C1C04D}"/>
              </a:ext>
            </a:extLst>
          </p:cNvPr>
          <p:cNvSpPr txBox="1"/>
          <p:nvPr/>
        </p:nvSpPr>
        <p:spPr>
          <a:xfrm>
            <a:off x="5026542" y="4510479"/>
            <a:ext cx="2785904" cy="7661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플랫폼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활성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유저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및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창작물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노출이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필요한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크리에이터</a:t>
            </a:r>
            <a:endParaRPr lang="en-US" sz="1300" spc="-36" dirty="0">
              <a:solidFill>
                <a:srgbClr val="1C1C1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Bold" panose="020B0802040504020204" pitchFamily="34" charset="0"/>
              <a:sym typeface="Tlab 돋움 레귤러"/>
            </a:endParaRPr>
          </a:p>
        </p:txBody>
      </p:sp>
      <p:sp>
        <p:nvSpPr>
          <p:cNvPr id="33" name="TextBox 30">
            <a:extLst>
              <a:ext uri="{FF2B5EF4-FFF2-40B4-BE49-F238E27FC236}">
                <a16:creationId xmlns:a16="http://schemas.microsoft.com/office/drawing/2014/main" id="{3B49DCAE-5FCB-4BB3-AA1B-97C036697642}"/>
              </a:ext>
            </a:extLst>
          </p:cNvPr>
          <p:cNvSpPr txBox="1"/>
          <p:nvPr/>
        </p:nvSpPr>
        <p:spPr>
          <a:xfrm>
            <a:off x="5026542" y="5454163"/>
            <a:ext cx="2785904" cy="117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피드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내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네이티브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광고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및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마켓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'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상단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노출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(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끌어올리기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)'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유료화를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통한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트래픽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기반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광고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수익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안착</a:t>
            </a:r>
            <a:endParaRPr lang="en-US" sz="1300" spc="-36" dirty="0">
              <a:solidFill>
                <a:srgbClr val="1C1C1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Bold" panose="020B0802040504020204" pitchFamily="34" charset="0"/>
              <a:sym typeface="Tlab 돋움 레귤러"/>
            </a:endParaRPr>
          </a:p>
        </p:txBody>
      </p:sp>
      <p:sp>
        <p:nvSpPr>
          <p:cNvPr id="34" name="TextBox 31">
            <a:extLst>
              <a:ext uri="{FF2B5EF4-FFF2-40B4-BE49-F238E27FC236}">
                <a16:creationId xmlns:a16="http://schemas.microsoft.com/office/drawing/2014/main" id="{A0D5D137-4FF8-4EE5-9221-E3F80C2542BD}"/>
              </a:ext>
            </a:extLst>
          </p:cNvPr>
          <p:cNvSpPr txBox="1"/>
          <p:nvPr/>
        </p:nvSpPr>
        <p:spPr>
          <a:xfrm>
            <a:off x="4485351" y="4577154"/>
            <a:ext cx="1319079" cy="317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1300" b="1" spc="-60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타겟</a:t>
            </a:r>
          </a:p>
        </p:txBody>
      </p:sp>
      <p:sp>
        <p:nvSpPr>
          <p:cNvPr id="35" name="TextBox 32">
            <a:extLst>
              <a:ext uri="{FF2B5EF4-FFF2-40B4-BE49-F238E27FC236}">
                <a16:creationId xmlns:a16="http://schemas.microsoft.com/office/drawing/2014/main" id="{B967551A-8DD6-409C-8A9D-B68E1AC404E6}"/>
              </a:ext>
            </a:extLst>
          </p:cNvPr>
          <p:cNvSpPr txBox="1"/>
          <p:nvPr/>
        </p:nvSpPr>
        <p:spPr>
          <a:xfrm>
            <a:off x="4485351" y="5482738"/>
            <a:ext cx="1319079" cy="317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1300" b="1" spc="-60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전략</a:t>
            </a:r>
          </a:p>
        </p:txBody>
      </p:sp>
      <p:sp>
        <p:nvSpPr>
          <p:cNvPr id="36" name="TextBox 33">
            <a:extLst>
              <a:ext uri="{FF2B5EF4-FFF2-40B4-BE49-F238E27FC236}">
                <a16:creationId xmlns:a16="http://schemas.microsoft.com/office/drawing/2014/main" id="{9C7E1328-05AA-4AD9-A65F-F6B7E5904DCA}"/>
              </a:ext>
            </a:extLst>
          </p:cNvPr>
          <p:cNvSpPr txBox="1"/>
          <p:nvPr/>
        </p:nvSpPr>
        <p:spPr>
          <a:xfrm>
            <a:off x="9201301" y="3774767"/>
            <a:ext cx="1714729" cy="3279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1800" b="1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비즈니스</a:t>
            </a:r>
            <a:r>
              <a:rPr lang="en-US" sz="1800" b="1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 </a:t>
            </a:r>
            <a:r>
              <a:rPr lang="en-US" sz="1800" b="1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고도화</a:t>
            </a:r>
            <a:endParaRPr lang="en-US" sz="1800" b="1" dirty="0">
              <a:solidFill>
                <a:srgbClr val="1C1C1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38" name="TextBox 34">
            <a:extLst>
              <a:ext uri="{FF2B5EF4-FFF2-40B4-BE49-F238E27FC236}">
                <a16:creationId xmlns:a16="http://schemas.microsoft.com/office/drawing/2014/main" id="{651E484A-1729-43DA-80C5-530A8190F0DB}"/>
              </a:ext>
            </a:extLst>
          </p:cNvPr>
          <p:cNvSpPr txBox="1"/>
          <p:nvPr/>
        </p:nvSpPr>
        <p:spPr>
          <a:xfrm>
            <a:off x="9201301" y="3368368"/>
            <a:ext cx="1714729" cy="3302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1800" b="1" spc="-40" dirty="0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Year 4-5</a:t>
            </a:r>
          </a:p>
        </p:txBody>
      </p:sp>
      <p:sp>
        <p:nvSpPr>
          <p:cNvPr id="39" name="TextBox 35">
            <a:extLst>
              <a:ext uri="{FF2B5EF4-FFF2-40B4-BE49-F238E27FC236}">
                <a16:creationId xmlns:a16="http://schemas.microsoft.com/office/drawing/2014/main" id="{3D2822D8-9E39-4047-9212-80B74E92A704}"/>
              </a:ext>
            </a:extLst>
          </p:cNvPr>
          <p:cNvSpPr txBox="1"/>
          <p:nvPr/>
        </p:nvSpPr>
        <p:spPr>
          <a:xfrm>
            <a:off x="9012978" y="4504753"/>
            <a:ext cx="2783383" cy="764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맞춤형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AI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솔루션과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브랜드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타겟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홍보가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필요한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외부</a:t>
            </a:r>
            <a:r>
              <a:rPr lang="en-US" sz="1300" spc="-36" dirty="0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</a:t>
            </a:r>
            <a:r>
              <a:rPr lang="en-US" sz="1300" spc="-36" dirty="0" err="1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기업</a:t>
            </a:r>
            <a:endParaRPr lang="en-US" sz="1300" spc="-36" dirty="0">
              <a:solidFill>
                <a:srgbClr val="1C1C1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Noto Sans Bold" panose="020B0802040504020204" pitchFamily="34" charset="0"/>
              <a:sym typeface="Tlab 돋움 레귤러"/>
            </a:endParaRPr>
          </a:p>
        </p:txBody>
      </p:sp>
      <p:sp>
        <p:nvSpPr>
          <p:cNvPr id="40" name="TextBox 36">
            <a:extLst>
              <a:ext uri="{FF2B5EF4-FFF2-40B4-BE49-F238E27FC236}">
                <a16:creationId xmlns:a16="http://schemas.microsoft.com/office/drawing/2014/main" id="{2A4C8637-D489-406C-9ABE-D6B7B7A19156}"/>
              </a:ext>
            </a:extLst>
          </p:cNvPr>
          <p:cNvSpPr txBox="1"/>
          <p:nvPr/>
        </p:nvSpPr>
        <p:spPr>
          <a:xfrm>
            <a:off x="9012977" y="5450656"/>
            <a:ext cx="2783384" cy="1176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240"/>
              </a:lnSpc>
              <a:spcBef>
                <a:spcPct val="0"/>
              </a:spcBef>
            </a:pPr>
            <a:r>
              <a:rPr lang="en-US" sz="1300" spc="-36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누적 데이터 기반 기업용(B2B) 맞춤 솔루션</a:t>
            </a:r>
            <a:r>
              <a:rPr lang="en-US" sz="1300" u="none" strike="noStrike" spc="-36">
                <a:solidFill>
                  <a:srgbClr val="1C1C1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"/>
              </a:rPr>
              <a:t> 제공 및 대규모 스폰서십 챌린지 개최로 마케팅 수익 창출</a:t>
            </a:r>
          </a:p>
        </p:txBody>
      </p:sp>
      <p:sp>
        <p:nvSpPr>
          <p:cNvPr id="41" name="TextBox 37">
            <a:extLst>
              <a:ext uri="{FF2B5EF4-FFF2-40B4-BE49-F238E27FC236}">
                <a16:creationId xmlns:a16="http://schemas.microsoft.com/office/drawing/2014/main" id="{168133F9-132A-4F11-A602-1C398660C360}"/>
              </a:ext>
            </a:extLst>
          </p:cNvPr>
          <p:cNvSpPr txBox="1"/>
          <p:nvPr/>
        </p:nvSpPr>
        <p:spPr>
          <a:xfrm>
            <a:off x="8497188" y="4571428"/>
            <a:ext cx="1347958" cy="317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1300" b="1" spc="-60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타겟</a:t>
            </a:r>
          </a:p>
        </p:txBody>
      </p:sp>
      <p:sp>
        <p:nvSpPr>
          <p:cNvPr id="42" name="TextBox 38">
            <a:extLst>
              <a:ext uri="{FF2B5EF4-FFF2-40B4-BE49-F238E27FC236}">
                <a16:creationId xmlns:a16="http://schemas.microsoft.com/office/drawing/2014/main" id="{AFB7F4D2-EF8C-4B8A-832F-6F511921BF0A}"/>
              </a:ext>
            </a:extLst>
          </p:cNvPr>
          <p:cNvSpPr txBox="1"/>
          <p:nvPr/>
        </p:nvSpPr>
        <p:spPr>
          <a:xfrm>
            <a:off x="8497188" y="5491931"/>
            <a:ext cx="1347958" cy="3173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r>
              <a:rPr lang="en-US" sz="1300" b="1" spc="-60">
                <a:solidFill>
                  <a:srgbClr val="02625D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Noto Sans Bold" panose="020B0802040504020204" pitchFamily="34" charset="0"/>
                <a:sym typeface="Tlab 돋움 레귤러 Bold"/>
              </a:rPr>
              <a:t>전략</a:t>
            </a:r>
          </a:p>
        </p:txBody>
      </p:sp>
      <p:sp>
        <p:nvSpPr>
          <p:cNvPr id="44" name="TextBox 41">
            <a:extLst>
              <a:ext uri="{FF2B5EF4-FFF2-40B4-BE49-F238E27FC236}">
                <a16:creationId xmlns:a16="http://schemas.microsoft.com/office/drawing/2014/main" id="{4F9D66F9-B5E5-41A6-A437-47F276C31469}"/>
              </a:ext>
            </a:extLst>
          </p:cNvPr>
          <p:cNvSpPr txBox="1"/>
          <p:nvPr/>
        </p:nvSpPr>
        <p:spPr>
          <a:xfrm>
            <a:off x="1064943" y="964355"/>
            <a:ext cx="9956978" cy="8013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4000" b="1" spc="-100" dirty="0" err="1">
                <a:solidFill>
                  <a:srgbClr val="010202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 Bold"/>
              </a:rPr>
              <a:t>초기</a:t>
            </a:r>
            <a:r>
              <a:rPr lang="en-US" sz="4000" b="1" spc="-100" dirty="0">
                <a:solidFill>
                  <a:srgbClr val="010202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 Bold"/>
              </a:rPr>
              <a:t> </a:t>
            </a:r>
            <a:r>
              <a:rPr lang="en-US" sz="4000" b="1" spc="-100" dirty="0" err="1">
                <a:solidFill>
                  <a:srgbClr val="010202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 Bold"/>
              </a:rPr>
              <a:t>시장</a:t>
            </a:r>
            <a:r>
              <a:rPr lang="en-US" sz="4000" b="1" spc="-100" dirty="0">
                <a:solidFill>
                  <a:srgbClr val="010202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 Bold"/>
              </a:rPr>
              <a:t> </a:t>
            </a:r>
            <a:r>
              <a:rPr lang="en-US" sz="4000" b="1" spc="-100" dirty="0" err="1">
                <a:solidFill>
                  <a:srgbClr val="010202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 Bold"/>
              </a:rPr>
              <a:t>진입</a:t>
            </a:r>
            <a:r>
              <a:rPr lang="en-US" sz="4000" b="1" spc="-100" dirty="0">
                <a:solidFill>
                  <a:srgbClr val="010202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 Bold"/>
              </a:rPr>
              <a:t> </a:t>
            </a:r>
            <a:r>
              <a:rPr lang="en-US" sz="4000" b="1" spc="-100" dirty="0" err="1">
                <a:solidFill>
                  <a:srgbClr val="010202"/>
                </a:solidFill>
                <a:latin typeface="Noto Sans Bold" panose="020B0802040504020204" pitchFamily="34" charset="0"/>
                <a:ea typeface="Noto Sans Bold" panose="020B0802040504020204" pitchFamily="34" charset="0"/>
                <a:cs typeface="Noto Sans Bold" panose="020B0802040504020204" pitchFamily="34" charset="0"/>
                <a:sym typeface="Tlab 돋움 레귤러 Bold"/>
              </a:rPr>
              <a:t>로드맵</a:t>
            </a:r>
            <a:endParaRPr lang="en-US" sz="4000" b="1" spc="-100" dirty="0">
              <a:solidFill>
                <a:srgbClr val="010202"/>
              </a:solidFill>
              <a:latin typeface="Noto Sans Bold" panose="020B0802040504020204" pitchFamily="34" charset="0"/>
              <a:ea typeface="Noto Sans Bold" panose="020B0802040504020204" pitchFamily="34" charset="0"/>
              <a:cs typeface="Noto Sans Bold" panose="020B0802040504020204" pitchFamily="34" charset="0"/>
              <a:sym typeface="Tlab 돋움 레귤러 Bold"/>
            </a:endParaRPr>
          </a:p>
        </p:txBody>
      </p:sp>
      <p:grpSp>
        <p:nvGrpSpPr>
          <p:cNvPr id="45" name="Group 14">
            <a:extLst>
              <a:ext uri="{FF2B5EF4-FFF2-40B4-BE49-F238E27FC236}">
                <a16:creationId xmlns:a16="http://schemas.microsoft.com/office/drawing/2014/main" id="{9EB715A8-66FF-4C7E-8C57-D5517CED06F8}"/>
              </a:ext>
            </a:extLst>
          </p:cNvPr>
          <p:cNvGrpSpPr/>
          <p:nvPr/>
        </p:nvGrpSpPr>
        <p:grpSpPr>
          <a:xfrm>
            <a:off x="8035746" y="3514137"/>
            <a:ext cx="579807" cy="582061"/>
            <a:chOff x="0" y="0"/>
            <a:chExt cx="812800" cy="812800"/>
          </a:xfrm>
        </p:grpSpPr>
        <p:sp>
          <p:nvSpPr>
            <p:cNvPr id="46" name="Freeform 15">
              <a:extLst>
                <a:ext uri="{FF2B5EF4-FFF2-40B4-BE49-F238E27FC236}">
                  <a16:creationId xmlns:a16="http://schemas.microsoft.com/office/drawing/2014/main" id="{2DADC7E9-52E5-4723-8DC7-D13AEC0F887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81280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812800" y="406400"/>
                  </a:lnTo>
                  <a:close/>
                </a:path>
              </a:pathLst>
            </a:custGeom>
            <a:solidFill>
              <a:srgbClr val="02625D"/>
            </a:solidFill>
          </p:spPr>
          <p:txBody>
            <a:bodyPr/>
            <a:lstStyle/>
            <a:p>
              <a:endParaRPr lang="ko-KR" altLang="en-US"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47" name="TextBox 16">
              <a:extLst>
                <a:ext uri="{FF2B5EF4-FFF2-40B4-BE49-F238E27FC236}">
                  <a16:creationId xmlns:a16="http://schemas.microsoft.com/office/drawing/2014/main" id="{569179FB-6F76-45B2-969F-91EC86F8596F}"/>
                </a:ext>
              </a:extLst>
            </p:cNvPr>
            <p:cNvSpPr txBox="1"/>
            <p:nvPr/>
          </p:nvSpPr>
          <p:spPr>
            <a:xfrm>
              <a:off x="0" y="165100"/>
              <a:ext cx="711200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 sz="1800" dirty="0"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949651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17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7" descr="gen-dedup-65e4851280e6cb16af64c82a8f1f4f17.png"/>
          <p:cNvPicPr preferRelativeResize="0"/>
          <p:nvPr/>
        </p:nvPicPr>
        <p:blipFill rotWithShape="1">
          <a:blip r:embed="rId4">
            <a:alphaModFix/>
          </a:blip>
          <a:srcRect l="-6" r="-6"/>
          <a:stretch/>
        </p:blipFill>
        <p:spPr>
          <a:xfrm>
            <a:off x="1143000" y="2476195"/>
            <a:ext cx="3066898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7" descr="gen-dedup-65e4851280e6cb16af64c82a8f1f4f17.png"/>
          <p:cNvPicPr preferRelativeResize="0"/>
          <p:nvPr/>
        </p:nvPicPr>
        <p:blipFill rotWithShape="1">
          <a:blip r:embed="rId4">
            <a:alphaModFix/>
          </a:blip>
          <a:srcRect l="-6" r="-6"/>
          <a:stretch/>
        </p:blipFill>
        <p:spPr>
          <a:xfrm>
            <a:off x="4572000" y="2476195"/>
            <a:ext cx="3066898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7" descr="gen-dedup-65e4851280e6cb16af64c82a8f1f4f17.png"/>
          <p:cNvPicPr preferRelativeResize="0"/>
          <p:nvPr/>
        </p:nvPicPr>
        <p:blipFill rotWithShape="1">
          <a:blip r:embed="rId4">
            <a:alphaModFix/>
          </a:blip>
          <a:srcRect l="-6" r="-6"/>
          <a:stretch/>
        </p:blipFill>
        <p:spPr>
          <a:xfrm>
            <a:off x="8001000" y="2476195"/>
            <a:ext cx="3066898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7" descr="gen-dedup-65e4851280e6cb16af64c82a8f1f4f17.png"/>
          <p:cNvPicPr preferRelativeResize="0"/>
          <p:nvPr/>
        </p:nvPicPr>
        <p:blipFill rotWithShape="1">
          <a:blip r:embed="rId4">
            <a:alphaModFix/>
          </a:blip>
          <a:srcRect l="-6" r="-6"/>
          <a:stretch/>
        </p:blipFill>
        <p:spPr>
          <a:xfrm>
            <a:off x="2857500" y="4619549"/>
            <a:ext cx="3066898" cy="1904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7" descr="gen-dedup-65e4851280e6cb16af64c82a8f1f4f17.png"/>
          <p:cNvPicPr preferRelativeResize="0"/>
          <p:nvPr/>
        </p:nvPicPr>
        <p:blipFill rotWithShape="1">
          <a:blip r:embed="rId4">
            <a:alphaModFix/>
          </a:blip>
          <a:srcRect l="-6" r="-6"/>
          <a:stretch/>
        </p:blipFill>
        <p:spPr>
          <a:xfrm>
            <a:off x="6286500" y="4619549"/>
            <a:ext cx="3066898" cy="1904695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17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6.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기술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7"/>
          <p:cNvSpPr txBox="1"/>
          <p:nvPr/>
        </p:nvSpPr>
        <p:spPr>
          <a:xfrm>
            <a:off x="761695" y="1143000"/>
            <a:ext cx="10668305" cy="50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3600"/>
              <a:buFont typeface="Noto Sans KR"/>
              <a:buNone/>
            </a:pPr>
            <a:r>
              <a:rPr lang="en-US" sz="3600" b="1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주요 기술 스택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 txBox="1"/>
          <p:nvPr/>
        </p:nvSpPr>
        <p:spPr>
          <a:xfrm>
            <a:off x="761695" y="1857146"/>
            <a:ext cx="10668305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Noto Sans KR"/>
              <a:buNone/>
            </a:pPr>
            <a:r>
              <a:rPr lang="en-US" sz="18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서비스 구현을 위한 핵심 기술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7"/>
          <p:cNvSpPr txBox="1"/>
          <p:nvPr/>
        </p:nvSpPr>
        <p:spPr>
          <a:xfrm>
            <a:off x="1705356" y="2704795"/>
            <a:ext cx="2257654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Noto Sans KR"/>
              <a:buNone/>
            </a:pPr>
            <a:r>
              <a:rPr lang="en-US" sz="1500" b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Frontend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1" name="Google Shape;351;p17" descr="gen-dedup-4fb5e3e7a58fc1f5d562385b095bd4d8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71600" y="2747772"/>
            <a:ext cx="237744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7"/>
          <p:cNvSpPr/>
          <p:nvPr/>
        </p:nvSpPr>
        <p:spPr>
          <a:xfrm>
            <a:off x="1371600" y="3133649"/>
            <a:ext cx="666598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3" name="Google Shape;353;p17"/>
          <p:cNvSpPr/>
          <p:nvPr/>
        </p:nvSpPr>
        <p:spPr>
          <a:xfrm>
            <a:off x="1371600" y="3133649"/>
            <a:ext cx="667512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Next.js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7"/>
          <p:cNvSpPr/>
          <p:nvPr/>
        </p:nvSpPr>
        <p:spPr>
          <a:xfrm>
            <a:off x="2108606" y="3133649"/>
            <a:ext cx="914400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5" name="Google Shape;355;p17"/>
          <p:cNvSpPr/>
          <p:nvPr/>
        </p:nvSpPr>
        <p:spPr>
          <a:xfrm>
            <a:off x="2108606" y="3133649"/>
            <a:ext cx="914400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TypeScript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7"/>
          <p:cNvSpPr/>
          <p:nvPr/>
        </p:nvSpPr>
        <p:spPr>
          <a:xfrm>
            <a:off x="1371600" y="3476549"/>
            <a:ext cx="1057046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7" name="Google Shape;357;p17"/>
          <p:cNvSpPr/>
          <p:nvPr/>
        </p:nvSpPr>
        <p:spPr>
          <a:xfrm>
            <a:off x="1371600" y="3476549"/>
            <a:ext cx="10579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Tailwind CSS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2496312" y="3476549"/>
            <a:ext cx="743407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2496312" y="3476549"/>
            <a:ext cx="743407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Zustand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/>
          <p:nvPr/>
        </p:nvSpPr>
        <p:spPr>
          <a:xfrm>
            <a:off x="1371600" y="3819449"/>
            <a:ext cx="1238098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1" name="Google Shape;361;p17"/>
          <p:cNvSpPr/>
          <p:nvPr/>
        </p:nvSpPr>
        <p:spPr>
          <a:xfrm>
            <a:off x="1371600" y="3819449"/>
            <a:ext cx="1239012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TanStack Query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5086807" y="2704795"/>
            <a:ext cx="2305202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Noto Sans KR"/>
              <a:buNone/>
            </a:pPr>
            <a:r>
              <a:rPr lang="en-US" sz="1500" b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Backend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3" name="Google Shape;363;p17" descr="gen-dedup-68a22372b915aee880ca235c710f5dc5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800600" y="2747772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7"/>
          <p:cNvSpPr/>
          <p:nvPr/>
        </p:nvSpPr>
        <p:spPr>
          <a:xfrm>
            <a:off x="4800600" y="3133649"/>
            <a:ext cx="705002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5" name="Google Shape;365;p17"/>
          <p:cNvSpPr/>
          <p:nvPr/>
        </p:nvSpPr>
        <p:spPr>
          <a:xfrm>
            <a:off x="4800600" y="3133649"/>
            <a:ext cx="705002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FastAPI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8496605" y="2704795"/>
            <a:ext cx="2324405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Noto Sans KR"/>
              <a:buNone/>
            </a:pPr>
            <a:r>
              <a:rPr lang="en-US" sz="1500" b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Database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7" name="Google Shape;367;p17" descr="gen-dedup-6b90c9ab7b360cd5e250c94e26dc93c0.png"/>
          <p:cNvPicPr preferRelativeResize="0"/>
          <p:nvPr/>
        </p:nvPicPr>
        <p:blipFill rotWithShape="1">
          <a:blip r:embed="rId7">
            <a:alphaModFix/>
          </a:blip>
          <a:srcRect l="-1648" r="-1648"/>
          <a:stretch/>
        </p:blipFill>
        <p:spPr>
          <a:xfrm>
            <a:off x="8229600" y="2747772"/>
            <a:ext cx="171907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17"/>
          <p:cNvSpPr/>
          <p:nvPr/>
        </p:nvSpPr>
        <p:spPr>
          <a:xfrm>
            <a:off x="8229600" y="3133649"/>
            <a:ext cx="961949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69" name="Google Shape;369;p17"/>
          <p:cNvSpPr/>
          <p:nvPr/>
        </p:nvSpPr>
        <p:spPr>
          <a:xfrm>
            <a:off x="8229600" y="3133649"/>
            <a:ext cx="962863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PostgreSQL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 txBox="1"/>
          <p:nvPr/>
        </p:nvSpPr>
        <p:spPr>
          <a:xfrm>
            <a:off x="3372307" y="4848149"/>
            <a:ext cx="2305202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Noto Sans KR"/>
              <a:buNone/>
            </a:pPr>
            <a:r>
              <a:rPr lang="en-US" sz="1500" b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Analytics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1" name="Google Shape;371;p17" descr="gen-dedup-9bb8f2289719035f6ed0351b48b8c75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086100" y="489112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7"/>
          <p:cNvSpPr/>
          <p:nvPr/>
        </p:nvSpPr>
        <p:spPr>
          <a:xfrm>
            <a:off x="3086100" y="5277002"/>
            <a:ext cx="485546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3" name="Google Shape;373;p17"/>
          <p:cNvSpPr/>
          <p:nvPr/>
        </p:nvSpPr>
        <p:spPr>
          <a:xfrm>
            <a:off x="3086100" y="5277002"/>
            <a:ext cx="486461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GA4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7"/>
          <p:cNvSpPr txBox="1"/>
          <p:nvPr/>
        </p:nvSpPr>
        <p:spPr>
          <a:xfrm>
            <a:off x="6801307" y="4848149"/>
            <a:ext cx="2305202" cy="277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500"/>
              <a:buFont typeface="Noto Sans KR"/>
              <a:buNone/>
            </a:pPr>
            <a:r>
              <a:rPr lang="en-US" sz="1500" b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AI 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5" name="Google Shape;375;p17" descr="gen-dedup-ce69a946980ca9afdef0fdf62a92f535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15100" y="4891126"/>
            <a:ext cx="190195" cy="190195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17"/>
          <p:cNvSpPr/>
          <p:nvPr/>
        </p:nvSpPr>
        <p:spPr>
          <a:xfrm>
            <a:off x="6515100" y="5277002"/>
            <a:ext cx="705002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7" name="Google Shape;377;p17"/>
          <p:cNvSpPr/>
          <p:nvPr/>
        </p:nvSpPr>
        <p:spPr>
          <a:xfrm>
            <a:off x="6515100" y="5277002"/>
            <a:ext cx="705002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OpenAI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7"/>
          <p:cNvSpPr/>
          <p:nvPr/>
        </p:nvSpPr>
        <p:spPr>
          <a:xfrm>
            <a:off x="7287768" y="5277002"/>
            <a:ext cx="676656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79" name="Google Shape;379;p17"/>
          <p:cNvSpPr/>
          <p:nvPr/>
        </p:nvSpPr>
        <p:spPr>
          <a:xfrm>
            <a:off x="7287768" y="5277001"/>
            <a:ext cx="676656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Claude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7"/>
          <p:cNvSpPr/>
          <p:nvPr/>
        </p:nvSpPr>
        <p:spPr>
          <a:xfrm>
            <a:off x="6515100" y="5619902"/>
            <a:ext cx="1257300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1" name="Google Shape;381;p17"/>
          <p:cNvSpPr/>
          <p:nvPr/>
        </p:nvSpPr>
        <p:spPr>
          <a:xfrm>
            <a:off x="6515100" y="5619902"/>
            <a:ext cx="1257300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495057"/>
                </a:solidFill>
                <a:latin typeface="Noto Sans KR"/>
                <a:ea typeface="Noto Sans KR"/>
                <a:cs typeface="Noto Sans KR"/>
                <a:sym typeface="Noto Sans KR"/>
              </a:rPr>
              <a:t>멀티모델 연동 구조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7"/>
          <p:cNvSpPr/>
          <p:nvPr/>
        </p:nvSpPr>
        <p:spPr>
          <a:xfrm>
            <a:off x="8030260" y="5272429"/>
            <a:ext cx="676656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83" name="Google Shape;383;p17"/>
          <p:cNvSpPr/>
          <p:nvPr/>
        </p:nvSpPr>
        <p:spPr>
          <a:xfrm>
            <a:off x="7962594" y="5272428"/>
            <a:ext cx="676656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Gemini</a:t>
            </a: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7" name="Google Shape;352;p17">
            <a:extLst>
              <a:ext uri="{FF2B5EF4-FFF2-40B4-BE49-F238E27FC236}">
                <a16:creationId xmlns:a16="http://schemas.microsoft.com/office/drawing/2014/main" id="{A747273B-BA2E-44DD-BF69-549BEBB8DD61}"/>
              </a:ext>
            </a:extLst>
          </p:cNvPr>
          <p:cNvSpPr/>
          <p:nvPr/>
        </p:nvSpPr>
        <p:spPr>
          <a:xfrm>
            <a:off x="2704795" y="3810305"/>
            <a:ext cx="666598" cy="267005"/>
          </a:xfrm>
          <a:prstGeom prst="roundRect">
            <a:avLst>
              <a:gd name="adj" fmla="val 342465"/>
            </a:avLst>
          </a:prstGeom>
          <a:solidFill>
            <a:srgbClr val="F1F3F5"/>
          </a:solidFill>
          <a:ln w="12700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8" name="Google Shape;353;p17">
            <a:extLst>
              <a:ext uri="{FF2B5EF4-FFF2-40B4-BE49-F238E27FC236}">
                <a16:creationId xmlns:a16="http://schemas.microsoft.com/office/drawing/2014/main" id="{5DEE9825-A510-4113-9C92-F1D413867B1A}"/>
              </a:ext>
            </a:extLst>
          </p:cNvPr>
          <p:cNvSpPr/>
          <p:nvPr/>
        </p:nvSpPr>
        <p:spPr>
          <a:xfrm>
            <a:off x="2704795" y="3810305"/>
            <a:ext cx="667512" cy="267005"/>
          </a:xfrm>
          <a:prstGeom prst="rect">
            <a:avLst/>
          </a:prstGeom>
          <a:solidFill>
            <a:srgbClr val="FFFFFF">
              <a:alpha val="0"/>
            </a:srgbClr>
          </a:solidFill>
          <a:ln w="9525" cap="flat" cmpd="sng">
            <a:solidFill>
              <a:srgbClr val="FFFFFF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14300" tIns="38100" rIns="114300" bIns="381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95057"/>
              </a:buClr>
              <a:buSzPts val="1000"/>
              <a:buFont typeface="Noto Sans KR"/>
              <a:buNone/>
            </a:pPr>
            <a:r>
              <a:rPr lang="en-US" sz="1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Fabric.js</a:t>
            </a:r>
            <a:endParaRPr sz="1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19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19"/>
          <p:cNvSpPr txBox="1"/>
          <p:nvPr/>
        </p:nvSpPr>
        <p:spPr>
          <a:xfrm>
            <a:off x="761695" y="571500"/>
            <a:ext cx="2857500" cy="247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1300"/>
              <a:buFont typeface="Noto Sans KR"/>
              <a:buNone/>
            </a:pPr>
            <a:r>
              <a:rPr 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07. </a:t>
            </a:r>
            <a:r>
              <a:rPr lang="ko-KR" altLang="en-US" sz="13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팀원소개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" name="Group 2">
            <a:extLst>
              <a:ext uri="{FF2B5EF4-FFF2-40B4-BE49-F238E27FC236}">
                <a16:creationId xmlns:a16="http://schemas.microsoft.com/office/drawing/2014/main" id="{894A07A7-0FFB-4629-A5E5-33BA1D399761}"/>
              </a:ext>
            </a:extLst>
          </p:cNvPr>
          <p:cNvGrpSpPr/>
          <p:nvPr/>
        </p:nvGrpSpPr>
        <p:grpSpPr>
          <a:xfrm>
            <a:off x="1863484" y="3938765"/>
            <a:ext cx="1312821" cy="1312821"/>
            <a:chOff x="0" y="0"/>
            <a:chExt cx="812800" cy="812800"/>
          </a:xfrm>
        </p:grpSpPr>
        <p:sp>
          <p:nvSpPr>
            <p:cNvPr id="37" name="Freeform 3">
              <a:extLst>
                <a:ext uri="{FF2B5EF4-FFF2-40B4-BE49-F238E27FC236}">
                  <a16:creationId xmlns:a16="http://schemas.microsoft.com/office/drawing/2014/main" id="{F8B05C1B-A91C-473A-8B6D-060225BFFB3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0756" y="0"/>
                  </a:moveTo>
                  <a:lnTo>
                    <a:pt x="632044" y="0"/>
                  </a:lnTo>
                  <a:cubicBezTo>
                    <a:pt x="731873" y="0"/>
                    <a:pt x="812800" y="80927"/>
                    <a:pt x="812800" y="180756"/>
                  </a:cubicBezTo>
                  <a:lnTo>
                    <a:pt x="812800" y="632044"/>
                  </a:lnTo>
                  <a:cubicBezTo>
                    <a:pt x="812800" y="731873"/>
                    <a:pt x="731873" y="812800"/>
                    <a:pt x="632044" y="812800"/>
                  </a:cubicBezTo>
                  <a:lnTo>
                    <a:pt x="180756" y="812800"/>
                  </a:lnTo>
                  <a:cubicBezTo>
                    <a:pt x="80927" y="812800"/>
                    <a:pt x="0" y="731873"/>
                    <a:pt x="0" y="632044"/>
                  </a:cubicBezTo>
                  <a:lnTo>
                    <a:pt x="0" y="180756"/>
                  </a:lnTo>
                  <a:cubicBezTo>
                    <a:pt x="0" y="80927"/>
                    <a:pt x="80927" y="0"/>
                    <a:pt x="180756" y="0"/>
                  </a:cubicBezTo>
                  <a:close/>
                </a:path>
              </a:pathLst>
            </a:custGeom>
            <a:blipFill>
              <a:blip r:embed="rId4"/>
              <a:stretch>
                <a:fillRect t="-25000" b="-25000"/>
              </a:stretch>
            </a:blipFill>
          </p:spPr>
        </p:sp>
      </p:grpSp>
      <p:grpSp>
        <p:nvGrpSpPr>
          <p:cNvPr id="38" name="Group 4">
            <a:extLst>
              <a:ext uri="{FF2B5EF4-FFF2-40B4-BE49-F238E27FC236}">
                <a16:creationId xmlns:a16="http://schemas.microsoft.com/office/drawing/2014/main" id="{FECE45E3-E501-4E4A-A6A6-D57D40340EB0}"/>
              </a:ext>
            </a:extLst>
          </p:cNvPr>
          <p:cNvGrpSpPr/>
          <p:nvPr/>
        </p:nvGrpSpPr>
        <p:grpSpPr>
          <a:xfrm>
            <a:off x="9539045" y="3938765"/>
            <a:ext cx="1312821" cy="1312821"/>
            <a:chOff x="0" y="0"/>
            <a:chExt cx="812800" cy="812800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EF047259-110D-4996-A06A-FD24DF8D70E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0756" y="0"/>
                  </a:moveTo>
                  <a:lnTo>
                    <a:pt x="632044" y="0"/>
                  </a:lnTo>
                  <a:cubicBezTo>
                    <a:pt x="731873" y="0"/>
                    <a:pt x="812800" y="80927"/>
                    <a:pt x="812800" y="180756"/>
                  </a:cubicBezTo>
                  <a:lnTo>
                    <a:pt x="812800" y="632044"/>
                  </a:lnTo>
                  <a:cubicBezTo>
                    <a:pt x="812800" y="731873"/>
                    <a:pt x="731873" y="812800"/>
                    <a:pt x="632044" y="812800"/>
                  </a:cubicBezTo>
                  <a:lnTo>
                    <a:pt x="180756" y="812800"/>
                  </a:lnTo>
                  <a:cubicBezTo>
                    <a:pt x="80927" y="812800"/>
                    <a:pt x="0" y="731873"/>
                    <a:pt x="0" y="632044"/>
                  </a:cubicBezTo>
                  <a:lnTo>
                    <a:pt x="0" y="180756"/>
                  </a:lnTo>
                  <a:cubicBezTo>
                    <a:pt x="0" y="80927"/>
                    <a:pt x="80927" y="0"/>
                    <a:pt x="180756" y="0"/>
                  </a:cubicBezTo>
                  <a:close/>
                </a:path>
              </a:pathLst>
            </a:custGeom>
            <a:blipFill>
              <a:blip r:embed="rId5"/>
              <a:stretch>
                <a:fillRect t="-16562" b="-16562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40" name="Group 6">
            <a:extLst>
              <a:ext uri="{FF2B5EF4-FFF2-40B4-BE49-F238E27FC236}">
                <a16:creationId xmlns:a16="http://schemas.microsoft.com/office/drawing/2014/main" id="{2F18DB4A-3F82-494B-AACD-AB7957F86D4F}"/>
              </a:ext>
            </a:extLst>
          </p:cNvPr>
          <p:cNvGrpSpPr/>
          <p:nvPr/>
        </p:nvGrpSpPr>
        <p:grpSpPr>
          <a:xfrm>
            <a:off x="5526211" y="3938765"/>
            <a:ext cx="1312821" cy="1312821"/>
            <a:chOff x="0" y="0"/>
            <a:chExt cx="812800" cy="812800"/>
          </a:xfrm>
        </p:grpSpPr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7E80D705-73A6-4E19-9604-0ADD30E76C9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0756" y="0"/>
                  </a:moveTo>
                  <a:lnTo>
                    <a:pt x="632044" y="0"/>
                  </a:lnTo>
                  <a:cubicBezTo>
                    <a:pt x="731873" y="0"/>
                    <a:pt x="812800" y="80927"/>
                    <a:pt x="812800" y="180756"/>
                  </a:cubicBezTo>
                  <a:lnTo>
                    <a:pt x="812800" y="632044"/>
                  </a:lnTo>
                  <a:cubicBezTo>
                    <a:pt x="812800" y="731873"/>
                    <a:pt x="731873" y="812800"/>
                    <a:pt x="632044" y="812800"/>
                  </a:cubicBezTo>
                  <a:lnTo>
                    <a:pt x="180756" y="812800"/>
                  </a:lnTo>
                  <a:cubicBezTo>
                    <a:pt x="80927" y="812800"/>
                    <a:pt x="0" y="731873"/>
                    <a:pt x="0" y="632044"/>
                  </a:cubicBezTo>
                  <a:lnTo>
                    <a:pt x="0" y="180756"/>
                  </a:lnTo>
                  <a:cubicBezTo>
                    <a:pt x="0" y="80927"/>
                    <a:pt x="80927" y="0"/>
                    <a:pt x="180756" y="0"/>
                  </a:cubicBezTo>
                  <a:close/>
                </a:path>
              </a:pathLst>
            </a:custGeom>
            <a:blipFill>
              <a:blip r:embed="rId6"/>
              <a:stretch>
                <a:fillRect t="-9970" b="-9970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42" name="Group 8">
            <a:extLst>
              <a:ext uri="{FF2B5EF4-FFF2-40B4-BE49-F238E27FC236}">
                <a16:creationId xmlns:a16="http://schemas.microsoft.com/office/drawing/2014/main" id="{A4931691-5E9F-44E2-B81F-899D8F570798}"/>
              </a:ext>
            </a:extLst>
          </p:cNvPr>
          <p:cNvGrpSpPr/>
          <p:nvPr/>
        </p:nvGrpSpPr>
        <p:grpSpPr>
          <a:xfrm>
            <a:off x="1863484" y="1249696"/>
            <a:ext cx="1312820" cy="1312820"/>
            <a:chOff x="0" y="0"/>
            <a:chExt cx="812800" cy="812800"/>
          </a:xfrm>
        </p:grpSpPr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CCB21359-8860-4C97-A0EA-3FAD7D871D8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0756" y="0"/>
                  </a:moveTo>
                  <a:lnTo>
                    <a:pt x="632044" y="0"/>
                  </a:lnTo>
                  <a:cubicBezTo>
                    <a:pt x="731873" y="0"/>
                    <a:pt x="812800" y="80927"/>
                    <a:pt x="812800" y="180756"/>
                  </a:cubicBezTo>
                  <a:lnTo>
                    <a:pt x="812800" y="632044"/>
                  </a:lnTo>
                  <a:cubicBezTo>
                    <a:pt x="812800" y="731873"/>
                    <a:pt x="731873" y="812800"/>
                    <a:pt x="632044" y="812800"/>
                  </a:cubicBezTo>
                  <a:lnTo>
                    <a:pt x="180756" y="812800"/>
                  </a:lnTo>
                  <a:cubicBezTo>
                    <a:pt x="80927" y="812800"/>
                    <a:pt x="0" y="731873"/>
                    <a:pt x="0" y="632044"/>
                  </a:cubicBezTo>
                  <a:lnTo>
                    <a:pt x="0" y="180756"/>
                  </a:lnTo>
                  <a:cubicBezTo>
                    <a:pt x="0" y="80927"/>
                    <a:pt x="80927" y="0"/>
                    <a:pt x="180756" y="0"/>
                  </a:cubicBezTo>
                  <a:close/>
                </a:path>
              </a:pathLst>
            </a:custGeom>
            <a:blipFill>
              <a:blip r:embed="rId7"/>
              <a:stretch>
                <a:fillRect t="-14218" b="-14218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44" name="Group 10">
            <a:extLst>
              <a:ext uri="{FF2B5EF4-FFF2-40B4-BE49-F238E27FC236}">
                <a16:creationId xmlns:a16="http://schemas.microsoft.com/office/drawing/2014/main" id="{EAC92AC0-FB59-47D0-8ECC-926B01219694}"/>
              </a:ext>
            </a:extLst>
          </p:cNvPr>
          <p:cNvGrpSpPr/>
          <p:nvPr/>
        </p:nvGrpSpPr>
        <p:grpSpPr>
          <a:xfrm>
            <a:off x="5616588" y="1249696"/>
            <a:ext cx="1312820" cy="1312820"/>
            <a:chOff x="0" y="0"/>
            <a:chExt cx="812800" cy="812800"/>
          </a:xfrm>
        </p:grpSpPr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E743E58C-316E-4160-A215-A4C81D39F58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0756" y="0"/>
                  </a:moveTo>
                  <a:lnTo>
                    <a:pt x="632044" y="0"/>
                  </a:lnTo>
                  <a:cubicBezTo>
                    <a:pt x="731873" y="0"/>
                    <a:pt x="812800" y="80927"/>
                    <a:pt x="812800" y="180756"/>
                  </a:cubicBezTo>
                  <a:lnTo>
                    <a:pt x="812800" y="632044"/>
                  </a:lnTo>
                  <a:cubicBezTo>
                    <a:pt x="812800" y="731873"/>
                    <a:pt x="731873" y="812800"/>
                    <a:pt x="632044" y="812800"/>
                  </a:cubicBezTo>
                  <a:lnTo>
                    <a:pt x="180756" y="812800"/>
                  </a:lnTo>
                  <a:cubicBezTo>
                    <a:pt x="80927" y="812800"/>
                    <a:pt x="0" y="731873"/>
                    <a:pt x="0" y="632044"/>
                  </a:cubicBezTo>
                  <a:lnTo>
                    <a:pt x="0" y="180756"/>
                  </a:lnTo>
                  <a:cubicBezTo>
                    <a:pt x="0" y="80927"/>
                    <a:pt x="80927" y="0"/>
                    <a:pt x="180756" y="0"/>
                  </a:cubicBezTo>
                  <a:close/>
                </a:path>
              </a:pathLst>
            </a:custGeom>
            <a:blipFill>
              <a:blip r:embed="rId8"/>
              <a:stretch>
                <a:fillRect t="-19375" b="-19375"/>
              </a:stretch>
            </a:blipFill>
            <a:ln cap="rnd">
              <a:noFill/>
              <a:prstDash val="solid"/>
              <a:round/>
            </a:ln>
          </p:spPr>
        </p:sp>
      </p:grpSp>
      <p:grpSp>
        <p:nvGrpSpPr>
          <p:cNvPr id="46" name="Group 12">
            <a:extLst>
              <a:ext uri="{FF2B5EF4-FFF2-40B4-BE49-F238E27FC236}">
                <a16:creationId xmlns:a16="http://schemas.microsoft.com/office/drawing/2014/main" id="{9BE5B224-4A4E-489B-B4D6-0AB18D4D7A1A}"/>
              </a:ext>
            </a:extLst>
          </p:cNvPr>
          <p:cNvGrpSpPr/>
          <p:nvPr/>
        </p:nvGrpSpPr>
        <p:grpSpPr>
          <a:xfrm>
            <a:off x="9369692" y="1249696"/>
            <a:ext cx="1312820" cy="1312820"/>
            <a:chOff x="0" y="0"/>
            <a:chExt cx="812800" cy="812800"/>
          </a:xfrm>
        </p:grpSpPr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F0B8154A-297B-4B32-B4D0-F0D83277B67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80756" y="0"/>
                  </a:moveTo>
                  <a:lnTo>
                    <a:pt x="632044" y="0"/>
                  </a:lnTo>
                  <a:cubicBezTo>
                    <a:pt x="731873" y="0"/>
                    <a:pt x="812800" y="80927"/>
                    <a:pt x="812800" y="180756"/>
                  </a:cubicBezTo>
                  <a:lnTo>
                    <a:pt x="812800" y="632044"/>
                  </a:lnTo>
                  <a:cubicBezTo>
                    <a:pt x="812800" y="731873"/>
                    <a:pt x="731873" y="812800"/>
                    <a:pt x="632044" y="812800"/>
                  </a:cubicBezTo>
                  <a:lnTo>
                    <a:pt x="180756" y="812800"/>
                  </a:lnTo>
                  <a:cubicBezTo>
                    <a:pt x="80927" y="812800"/>
                    <a:pt x="0" y="731873"/>
                    <a:pt x="0" y="632044"/>
                  </a:cubicBezTo>
                  <a:lnTo>
                    <a:pt x="0" y="180756"/>
                  </a:lnTo>
                  <a:cubicBezTo>
                    <a:pt x="0" y="80927"/>
                    <a:pt x="80927" y="0"/>
                    <a:pt x="180756" y="0"/>
                  </a:cubicBezTo>
                  <a:close/>
                </a:path>
              </a:pathLst>
            </a:custGeom>
            <a:blipFill>
              <a:blip r:embed="rId9"/>
              <a:stretch>
                <a:fillRect/>
              </a:stretch>
            </a:blipFill>
          </p:spPr>
        </p:sp>
      </p:grpSp>
      <p:sp>
        <p:nvSpPr>
          <p:cNvPr id="48" name="TextBox 14">
            <a:extLst>
              <a:ext uri="{FF2B5EF4-FFF2-40B4-BE49-F238E27FC236}">
                <a16:creationId xmlns:a16="http://schemas.microsoft.com/office/drawing/2014/main" id="{EE1CED32-DEDA-46A1-8815-3FF75A175284}"/>
              </a:ext>
            </a:extLst>
          </p:cNvPr>
          <p:cNvSpPr txBox="1"/>
          <p:nvPr/>
        </p:nvSpPr>
        <p:spPr>
          <a:xfrm>
            <a:off x="1135448" y="5344787"/>
            <a:ext cx="2736393" cy="40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7"/>
              </a:lnSpc>
              <a:spcBef>
                <a:spcPct val="0"/>
              </a:spcBef>
            </a:pPr>
            <a:r>
              <a:rPr lang="en-US" sz="1500" b="1" spc="-53" dirty="0" err="1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정동재</a:t>
            </a:r>
            <a:endParaRPr lang="en-US" sz="1500" b="1" spc="-53" dirty="0">
              <a:solidFill>
                <a:srgbClr val="02625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49" name="TextBox 15">
            <a:extLst>
              <a:ext uri="{FF2B5EF4-FFF2-40B4-BE49-F238E27FC236}">
                <a16:creationId xmlns:a16="http://schemas.microsoft.com/office/drawing/2014/main" id="{616A7317-6207-4768-93D6-F7E5C006324F}"/>
              </a:ext>
            </a:extLst>
          </p:cNvPr>
          <p:cNvSpPr txBox="1"/>
          <p:nvPr/>
        </p:nvSpPr>
        <p:spPr>
          <a:xfrm>
            <a:off x="272439" y="5929565"/>
            <a:ext cx="4462410" cy="38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Infra, </a:t>
            </a:r>
            <a:r>
              <a:rPr lang="ko-KR" alt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마케팅</a:t>
            </a:r>
            <a:endParaRPr lang="en-US" sz="1500" b="1" spc="-49" dirty="0">
              <a:solidFill>
                <a:srgbClr val="1C1C1C">
                  <a:alpha val="80000"/>
                </a:srgb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50" name="TextBox 16">
            <a:extLst>
              <a:ext uri="{FF2B5EF4-FFF2-40B4-BE49-F238E27FC236}">
                <a16:creationId xmlns:a16="http://schemas.microsoft.com/office/drawing/2014/main" id="{04895BB5-B7CF-4D75-B50F-8BAAC405658A}"/>
              </a:ext>
            </a:extLst>
          </p:cNvPr>
          <p:cNvSpPr txBox="1"/>
          <p:nvPr/>
        </p:nvSpPr>
        <p:spPr>
          <a:xfrm>
            <a:off x="8582409" y="5344787"/>
            <a:ext cx="2736393" cy="40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7"/>
              </a:lnSpc>
              <a:spcBef>
                <a:spcPct val="0"/>
              </a:spcBef>
            </a:pPr>
            <a:r>
              <a:rPr lang="en-US" sz="1500" b="1" spc="-53" dirty="0" err="1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박상훈</a:t>
            </a:r>
            <a:endParaRPr lang="en-US" sz="1500" b="1" spc="-53" dirty="0">
              <a:solidFill>
                <a:srgbClr val="02625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51" name="TextBox 17">
            <a:extLst>
              <a:ext uri="{FF2B5EF4-FFF2-40B4-BE49-F238E27FC236}">
                <a16:creationId xmlns:a16="http://schemas.microsoft.com/office/drawing/2014/main" id="{FA78A61F-E023-4AFC-AC80-485E4B7D09A1}"/>
              </a:ext>
            </a:extLst>
          </p:cNvPr>
          <p:cNvSpPr txBox="1"/>
          <p:nvPr/>
        </p:nvSpPr>
        <p:spPr>
          <a:xfrm>
            <a:off x="7719401" y="5929565"/>
            <a:ext cx="4462410" cy="38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BE</a:t>
            </a:r>
          </a:p>
        </p:txBody>
      </p:sp>
      <p:sp>
        <p:nvSpPr>
          <p:cNvPr id="52" name="TextBox 18">
            <a:extLst>
              <a:ext uri="{FF2B5EF4-FFF2-40B4-BE49-F238E27FC236}">
                <a16:creationId xmlns:a16="http://schemas.microsoft.com/office/drawing/2014/main" id="{B3911082-545F-4C24-BDAE-BECFDB9D2ACB}"/>
              </a:ext>
            </a:extLst>
          </p:cNvPr>
          <p:cNvSpPr txBox="1"/>
          <p:nvPr/>
        </p:nvSpPr>
        <p:spPr>
          <a:xfrm>
            <a:off x="4798176" y="5344787"/>
            <a:ext cx="2736393" cy="40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7"/>
              </a:lnSpc>
              <a:spcBef>
                <a:spcPct val="0"/>
              </a:spcBef>
            </a:pPr>
            <a:r>
              <a:rPr lang="en-US" sz="1500" b="1" spc="-53" dirty="0" err="1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장병헌</a:t>
            </a:r>
            <a:endParaRPr lang="en-US" sz="1500" b="1" spc="-53" dirty="0">
              <a:solidFill>
                <a:srgbClr val="02625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53" name="TextBox 19">
            <a:extLst>
              <a:ext uri="{FF2B5EF4-FFF2-40B4-BE49-F238E27FC236}">
                <a16:creationId xmlns:a16="http://schemas.microsoft.com/office/drawing/2014/main" id="{B8DBE868-AA1B-402D-8C20-E95263BB1F37}"/>
              </a:ext>
            </a:extLst>
          </p:cNvPr>
          <p:cNvSpPr txBox="1"/>
          <p:nvPr/>
        </p:nvSpPr>
        <p:spPr>
          <a:xfrm>
            <a:off x="3935167" y="5929565"/>
            <a:ext cx="4462410" cy="38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AI </a:t>
            </a:r>
            <a:r>
              <a:rPr lang="ko-KR" alt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모델 관련 구축</a:t>
            </a:r>
            <a:r>
              <a:rPr lang="en-US" altLang="ko-KR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, </a:t>
            </a:r>
            <a:r>
              <a:rPr lang="ko-KR" alt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마케팅</a:t>
            </a:r>
            <a:endParaRPr lang="en-US" sz="1500" b="1" spc="-49" dirty="0">
              <a:solidFill>
                <a:srgbClr val="1C1C1C">
                  <a:alpha val="80000"/>
                </a:srgb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54" name="TextBox 20">
            <a:extLst>
              <a:ext uri="{FF2B5EF4-FFF2-40B4-BE49-F238E27FC236}">
                <a16:creationId xmlns:a16="http://schemas.microsoft.com/office/drawing/2014/main" id="{FA2A1CDA-DDB1-4B47-AF23-F402026E9F25}"/>
              </a:ext>
            </a:extLst>
          </p:cNvPr>
          <p:cNvSpPr txBox="1"/>
          <p:nvPr/>
        </p:nvSpPr>
        <p:spPr>
          <a:xfrm>
            <a:off x="1109322" y="2709965"/>
            <a:ext cx="2736393" cy="40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7"/>
              </a:lnSpc>
              <a:spcBef>
                <a:spcPct val="0"/>
              </a:spcBef>
            </a:pPr>
            <a:r>
              <a:rPr lang="en-US" sz="1500" b="1" spc="-53" dirty="0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이건도</a:t>
            </a:r>
          </a:p>
        </p:txBody>
      </p:sp>
      <p:sp>
        <p:nvSpPr>
          <p:cNvPr id="55" name="TextBox 21">
            <a:extLst>
              <a:ext uri="{FF2B5EF4-FFF2-40B4-BE49-F238E27FC236}">
                <a16:creationId xmlns:a16="http://schemas.microsoft.com/office/drawing/2014/main" id="{97891B41-D229-4F4F-9AFE-B605891D8FC9}"/>
              </a:ext>
            </a:extLst>
          </p:cNvPr>
          <p:cNvSpPr txBox="1"/>
          <p:nvPr/>
        </p:nvSpPr>
        <p:spPr>
          <a:xfrm>
            <a:off x="246314" y="3189177"/>
            <a:ext cx="4462410" cy="38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1500" b="1" spc="-49" dirty="0" err="1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팀장</a:t>
            </a:r>
            <a:r>
              <a:rPr 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, BE, </a:t>
            </a:r>
            <a:r>
              <a:rPr lang="en-US" altLang="ko-KR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DB</a:t>
            </a:r>
          </a:p>
        </p:txBody>
      </p:sp>
      <p:sp>
        <p:nvSpPr>
          <p:cNvPr id="56" name="TextBox 22">
            <a:extLst>
              <a:ext uri="{FF2B5EF4-FFF2-40B4-BE49-F238E27FC236}">
                <a16:creationId xmlns:a16="http://schemas.microsoft.com/office/drawing/2014/main" id="{8CEF10C0-EF3F-416F-A245-42BDC2A932F7}"/>
              </a:ext>
            </a:extLst>
          </p:cNvPr>
          <p:cNvSpPr txBox="1"/>
          <p:nvPr/>
        </p:nvSpPr>
        <p:spPr>
          <a:xfrm>
            <a:off x="4862427" y="2709965"/>
            <a:ext cx="2736393" cy="40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7"/>
              </a:lnSpc>
              <a:spcBef>
                <a:spcPct val="0"/>
              </a:spcBef>
            </a:pPr>
            <a:r>
              <a:rPr lang="en-US" sz="1500" b="1" spc="-53" dirty="0" err="1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손영록</a:t>
            </a:r>
            <a:endParaRPr lang="en-US" sz="1500" b="1" spc="-53" dirty="0">
              <a:solidFill>
                <a:srgbClr val="02625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57" name="TextBox 23">
            <a:extLst>
              <a:ext uri="{FF2B5EF4-FFF2-40B4-BE49-F238E27FC236}">
                <a16:creationId xmlns:a16="http://schemas.microsoft.com/office/drawing/2014/main" id="{C8C49D11-6321-4981-9654-9209F59C214A}"/>
              </a:ext>
            </a:extLst>
          </p:cNvPr>
          <p:cNvSpPr txBox="1"/>
          <p:nvPr/>
        </p:nvSpPr>
        <p:spPr>
          <a:xfrm>
            <a:off x="3999418" y="3174663"/>
            <a:ext cx="4462410" cy="38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altLang="ko-KR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AI </a:t>
            </a:r>
            <a:r>
              <a:rPr lang="ko-KR" alt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모델 관련 구축</a:t>
            </a:r>
            <a:r>
              <a:rPr lang="en-US" altLang="ko-KR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, </a:t>
            </a:r>
            <a:r>
              <a:rPr lang="ko-KR" alt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데이터 분석</a:t>
            </a:r>
            <a:endParaRPr lang="en-US" altLang="ko-KR" sz="1500" b="1" spc="-49" dirty="0">
              <a:solidFill>
                <a:srgbClr val="1C1C1C">
                  <a:alpha val="80000"/>
                </a:srgb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58" name="TextBox 26">
            <a:extLst>
              <a:ext uri="{FF2B5EF4-FFF2-40B4-BE49-F238E27FC236}">
                <a16:creationId xmlns:a16="http://schemas.microsoft.com/office/drawing/2014/main" id="{655269FF-6363-45F9-BFAC-EAD519D7FF76}"/>
              </a:ext>
            </a:extLst>
          </p:cNvPr>
          <p:cNvSpPr txBox="1"/>
          <p:nvPr/>
        </p:nvSpPr>
        <p:spPr>
          <a:xfrm>
            <a:off x="8615531" y="2709965"/>
            <a:ext cx="2736393" cy="40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27"/>
              </a:lnSpc>
              <a:spcBef>
                <a:spcPct val="0"/>
              </a:spcBef>
            </a:pPr>
            <a:r>
              <a:rPr lang="en-US" sz="1500" b="1" spc="-53" dirty="0" err="1">
                <a:solidFill>
                  <a:srgbClr val="02625C"/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문희성</a:t>
            </a:r>
            <a:endParaRPr lang="en-US" sz="1500" b="1" spc="-53" dirty="0">
              <a:solidFill>
                <a:srgbClr val="02625C"/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Tlab 돋움 레귤러 Bold"/>
              <a:sym typeface="Tlab 돋움 레귤러 Bold"/>
            </a:endParaRPr>
          </a:p>
        </p:txBody>
      </p:sp>
      <p:sp>
        <p:nvSpPr>
          <p:cNvPr id="59" name="TextBox 27">
            <a:extLst>
              <a:ext uri="{FF2B5EF4-FFF2-40B4-BE49-F238E27FC236}">
                <a16:creationId xmlns:a16="http://schemas.microsoft.com/office/drawing/2014/main" id="{449B411A-775B-4B8F-B61B-AD63EB76A3F8}"/>
              </a:ext>
            </a:extLst>
          </p:cNvPr>
          <p:cNvSpPr txBox="1"/>
          <p:nvPr/>
        </p:nvSpPr>
        <p:spPr>
          <a:xfrm>
            <a:off x="7752522" y="3136877"/>
            <a:ext cx="4462410" cy="3802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</a:pPr>
            <a:r>
              <a:rPr lang="en-US" sz="1500" b="1" spc="-49" dirty="0">
                <a:solidFill>
                  <a:srgbClr val="1C1C1C">
                    <a:alpha val="80000"/>
                  </a:srgb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Tlab 돋움 레귤러 Bold"/>
                <a:sym typeface="Tlab 돋움 레귤러 Bold"/>
              </a:rPr>
              <a:t>FE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16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6"/>
          <p:cNvSpPr txBox="1"/>
          <p:nvPr/>
        </p:nvSpPr>
        <p:spPr>
          <a:xfrm>
            <a:off x="1333195" y="2572207"/>
            <a:ext cx="9525305" cy="600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3600"/>
              <a:buFont typeface="Noto Sans KR"/>
              <a:buNone/>
            </a:pPr>
            <a:r>
              <a:rPr lang="en-US" sz="36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우리는</a:t>
            </a:r>
            <a:r>
              <a:rPr lang="en-US" sz="36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36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단순 </a:t>
            </a:r>
            <a:r>
              <a:rPr lang="en-US" sz="36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프롬프트를</a:t>
            </a:r>
            <a:r>
              <a:rPr lang="en-US" sz="36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파는</a:t>
            </a:r>
            <a:r>
              <a:rPr lang="en-US" sz="36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것이</a:t>
            </a:r>
            <a:r>
              <a:rPr lang="en-US" sz="3600" b="1" dirty="0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3600" b="1" dirty="0" err="1">
                <a:solidFill>
                  <a:srgbClr val="222222"/>
                </a:solidFill>
                <a:latin typeface="Noto Sans KR"/>
                <a:ea typeface="Noto Sans KR"/>
                <a:cs typeface="Noto Sans KR"/>
                <a:sym typeface="Noto Sans KR"/>
              </a:rPr>
              <a:t>아니라</a:t>
            </a:r>
            <a:endParaRPr sz="3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6"/>
          <p:cNvSpPr txBox="1"/>
          <p:nvPr/>
        </p:nvSpPr>
        <p:spPr>
          <a:xfrm>
            <a:off x="1333195" y="3261665"/>
            <a:ext cx="9525305" cy="695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2625C"/>
              </a:buClr>
              <a:buSzPts val="4200"/>
              <a:buFont typeface="Noto Sans KR"/>
              <a:buNone/>
            </a:pPr>
            <a:r>
              <a:rPr lang="en-US" sz="42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AI </a:t>
            </a:r>
            <a:r>
              <a:rPr lang="ko-KR" altLang="en-US" sz="42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노하우를 </a:t>
            </a:r>
            <a:r>
              <a:rPr lang="en-US" sz="4200" b="1" dirty="0" err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제공합니다</a:t>
            </a:r>
            <a:r>
              <a:rPr lang="en-US" sz="4200" b="1" dirty="0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.</a:t>
            </a:r>
            <a:endParaRPr sz="4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6"/>
          <p:cNvSpPr txBox="1"/>
          <p:nvPr/>
        </p:nvSpPr>
        <p:spPr>
          <a:xfrm>
            <a:off x="2286000" y="4619549"/>
            <a:ext cx="7620610" cy="3529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900"/>
              <a:buFont typeface="Noto Sans KR"/>
              <a:buNone/>
            </a:pPr>
            <a:r>
              <a:rPr lang="en-US" sz="1900">
                <a:solidFill>
                  <a:srgbClr val="666666"/>
                </a:solidFill>
                <a:latin typeface="Noto Sans KR"/>
                <a:ea typeface="Noto Sans KR"/>
                <a:cs typeface="Noto Sans KR"/>
                <a:sym typeface="Noto Sans KR"/>
              </a:rPr>
              <a:t>AI를 몰라도, 원하는 결과를 바로 얻을 수 있게.</a:t>
            </a:r>
            <a:endParaRPr sz="1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6"/>
          <p:cNvSpPr txBox="1"/>
          <p:nvPr/>
        </p:nvSpPr>
        <p:spPr>
          <a:xfrm>
            <a:off x="3238805" y="6381598"/>
            <a:ext cx="5715000" cy="200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100"/>
              <a:buFont typeface="Noto Sans KR"/>
              <a:buNone/>
            </a:pPr>
            <a:r>
              <a:rPr lang="en-US" sz="1100">
                <a:solidFill>
                  <a:srgbClr val="ADB5BD"/>
                </a:solidFill>
                <a:latin typeface="Noto Sans KR"/>
                <a:ea typeface="Noto Sans KR"/>
                <a:cs typeface="Noto Sans KR"/>
                <a:sym typeface="Noto Sans KR"/>
              </a:rPr>
              <a:t>F107 유캔두 · SSAFY 최종발표 · Thank You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5" name="Google Shape;465;p20" descr="gen-dedup-96025caddeb417471dbc0d650b8b92b7.png"/>
          <p:cNvPicPr preferRelativeResize="0"/>
          <p:nvPr/>
        </p:nvPicPr>
        <p:blipFill rotWithShape="1">
          <a:blip r:embed="rId3">
            <a:alphaModFix/>
          </a:blip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20"/>
          <p:cNvSpPr txBox="1"/>
          <p:nvPr/>
        </p:nvSpPr>
        <p:spPr>
          <a:xfrm>
            <a:off x="1333195" y="1714500"/>
            <a:ext cx="9525305" cy="209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0"/>
              <a:buFont typeface="Noto Sans KR"/>
              <a:buNone/>
            </a:pPr>
            <a:r>
              <a:rPr lang="en-US" sz="15000" b="1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 Q </a:t>
            </a:r>
            <a:r>
              <a:rPr lang="en-US" sz="15000" b="1">
                <a:solidFill>
                  <a:srgbClr val="02625C"/>
                </a:solidFill>
                <a:latin typeface="Noto Sans KR"/>
                <a:ea typeface="Noto Sans KR"/>
                <a:cs typeface="Noto Sans KR"/>
                <a:sym typeface="Noto Sans KR"/>
              </a:rPr>
              <a:t>&amp;</a:t>
            </a:r>
            <a:r>
              <a:rPr lang="en-US" sz="15000" b="1">
                <a:solidFill>
                  <a:srgbClr val="111111"/>
                </a:solidFill>
                <a:latin typeface="Noto Sans KR"/>
                <a:ea typeface="Noto Sans KR"/>
                <a:cs typeface="Noto Sans KR"/>
                <a:sym typeface="Noto Sans KR"/>
              </a:rPr>
              <a:t> A </a:t>
            </a:r>
            <a:endParaRPr sz="1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0"/>
          <p:cNvSpPr txBox="1"/>
          <p:nvPr/>
        </p:nvSpPr>
        <p:spPr>
          <a:xfrm>
            <a:off x="1333195" y="4572000"/>
            <a:ext cx="9525305" cy="3337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800"/>
              <a:buFont typeface="Noto Sans KR"/>
              <a:buNone/>
            </a:pPr>
            <a:r>
              <a:rPr lang="en-US" sz="1800">
                <a:solidFill>
                  <a:srgbClr val="555555"/>
                </a:solidFill>
                <a:latin typeface="Noto Sans KR"/>
                <a:ea typeface="Noto Sans KR"/>
                <a:cs typeface="Noto Sans KR"/>
                <a:sym typeface="Noto Sans KR"/>
              </a:rPr>
              <a:t>궁금하신 점을 자유롭게 질문해 주세요.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0"/>
          <p:cNvSpPr txBox="1"/>
          <p:nvPr/>
        </p:nvSpPr>
        <p:spPr>
          <a:xfrm>
            <a:off x="3238805" y="6381598"/>
            <a:ext cx="5715000" cy="191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DB5BD"/>
              </a:buClr>
              <a:buSzPts val="1000"/>
              <a:buFont typeface="Noto Sans KR"/>
              <a:buNone/>
            </a:pPr>
            <a:r>
              <a:rPr lang="en-US" sz="1000">
                <a:solidFill>
                  <a:srgbClr val="ADB5BD"/>
                </a:solidFill>
                <a:latin typeface="Noto Sans KR"/>
                <a:ea typeface="Noto Sans KR"/>
                <a:cs typeface="Noto Sans KR"/>
                <a:sym typeface="Noto Sans KR"/>
              </a:rPr>
              <a:t>Promtree · F107 유캔두 · SSAFY 최종발표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0"/>
          <p:cNvSpPr txBox="1"/>
          <p:nvPr/>
        </p:nvSpPr>
        <p:spPr>
          <a:xfrm>
            <a:off x="10668305" y="6381598"/>
            <a:ext cx="1143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E9ECEF"/>
              </a:buClr>
              <a:buSzPts val="1200"/>
              <a:buFont typeface="Noto Sans KR"/>
              <a:buNone/>
            </a:pPr>
            <a:r>
              <a:rPr lang="en-US" sz="1200" b="1">
                <a:solidFill>
                  <a:srgbClr val="E9ECEF"/>
                </a:solidFill>
                <a:latin typeface="Noto Sans KR"/>
                <a:ea typeface="Noto Sans KR"/>
                <a:cs typeface="Noto Sans KR"/>
                <a:sym typeface="Noto Sans KR"/>
              </a:rPr>
              <a:t>Promtree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3000" dirty="0">
            <a:latin typeface="Noto Sans KR" panose="020B0200000000000000" pitchFamily="50" charset="-127"/>
            <a:ea typeface="Noto Sans KR" panose="020B0200000000000000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574</TotalTime>
  <Words>1512</Words>
  <Application>Microsoft Office PowerPoint</Application>
  <PresentationFormat>와이드스크린</PresentationFormat>
  <Paragraphs>315</Paragraphs>
  <Slides>29</Slides>
  <Notes>29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4" baseType="lpstr">
      <vt:lpstr>Noto Sans KR</vt:lpstr>
      <vt:lpstr>Arial</vt:lpstr>
      <vt:lpstr>Noto Sans Bold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Visual Extract to PPTX Converter</dc:creator>
  <cp:lastModifiedBy>건도 이</cp:lastModifiedBy>
  <cp:revision>49</cp:revision>
  <dcterms:created xsi:type="dcterms:W3CDTF">2026-05-18T07:01:41Z</dcterms:created>
  <dcterms:modified xsi:type="dcterms:W3CDTF">2026-05-21T01:36:58Z</dcterms:modified>
</cp:coreProperties>
</file>
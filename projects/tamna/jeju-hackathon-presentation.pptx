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4" r:id="rId4"/>
    <p:sldId id="267" r:id="rId5"/>
    <p:sldId id="265" r:id="rId6"/>
    <p:sldId id="266" r:id="rId7"/>
    <p:sldId id="268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SAFY" initials="S" lastIdx="1" clrIdx="0">
    <p:extLst>
      <p:ext uri="{19B8F6BF-5375-455C-9EA6-DF929625EA0E}">
        <p15:presenceInfo xmlns:p15="http://schemas.microsoft.com/office/powerpoint/2012/main" userId="SSAF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48" y="3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68085-3EEB-4FA4-8FCB-CB3690C39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C144BE-460C-4681-853C-8DE2693E8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AEBD5-D82D-4DD2-8364-616F8A541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F34C5-8414-423C-8080-7C315B848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A25DB-D0DF-4BE1-A311-D6144A7C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8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6A84C-8A44-44FC-8FF8-8A82755D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6FBB8-4BDA-4A79-9910-276C9C233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A201D4-591C-4883-93A1-90396BC6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C52845-C109-4F52-AA72-215C9599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618D2-B7EC-4648-AC35-7EBBF465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53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ECBD7-81D7-4617-94D2-280A1A42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BE9D90-2160-4B2F-A016-062D43FE1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D5135-A1B5-4E45-B22C-116FA32E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B49947-F7BB-4B00-AE94-5B325428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04FCD-F7EB-40D1-8303-4007DFC0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2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7F91F-AB1A-430A-BC7B-2A4599BD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B039B7-2176-48AE-A589-350A430D5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73FBA9-9714-45CC-B072-F72B513C2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E97DEA-5377-4717-A466-B843AB51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CE1909-1F0E-42FA-A19F-C1323B23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E8A77-4CCD-42E1-9DF4-71F1FC78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58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B3326-0B25-4005-9CF7-36570689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DEF042-7745-429A-8CE3-603ED416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ED0D88-2ABF-40C8-BE43-561165C5E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92BD06-9D8E-495E-B553-4EC2783C0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4FF1B4-3124-4E3F-A8E9-2C2A05F5B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A91C16-74A7-4E14-92BD-D9F20408A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83F3A-13A1-48D3-9A26-62B4C52B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D4542F-0B21-41DA-B63C-CFA73C34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45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1D5C8-0D1C-4591-809B-55FAF400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5B30E7-8C67-4193-A1B6-20020F17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EEC93A-ABAA-48ED-964B-38C48AFF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C3FA0E-7743-41B0-BD7E-A565E3B5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00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8E265B-58D3-41D9-AF32-0B9AFC08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797971-4B5F-4357-A445-D0D1446B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673CE2-5EAE-4DAA-BE24-33A41B08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5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26B4B-770C-455B-94C9-3585FD0D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BCAAE8-3908-47C7-9DA0-4AA7D6C5C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FD2E9A-950F-41F0-8F37-2BFBF10F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E71CFC-A767-4137-8C30-7812D12D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F77F43-CC70-497D-96B3-07CD455B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32DC85-1A47-4423-8E98-7CD9B5D39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4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A1777-87FE-4977-ABAF-C08473E1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3ECA31-58E1-4DD9-A70F-FB6CDA3AE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031591-3808-40FF-AB54-A33CA4F83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3B3181-5329-4D0C-BFE0-FAB68A6E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ECECF1-8E74-4C5F-8145-3597DF21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18CC31-8D64-45E9-8508-9A4FA87E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08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7E5DE-106F-4C02-8E15-3BD9FF0D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B9BD4C-EE75-4CEA-BE5D-467C2D3E5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A11AC-9552-4BDA-9198-8463CB34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7E9F9-AD4E-4AE3-8BD3-6039B4C9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29F87-22F2-4E7A-8B62-FCD0270D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28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66CB2F-5441-4E32-B042-8EB83183D3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E7D400-34DC-426F-980E-E1F5804F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441EC-FA1B-4E8C-8295-25C60B44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DBAF0-AA05-49D2-BBFC-F1540BDE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332F3-779E-41EB-98EE-14BD0885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68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C60D89-6CC7-4705-9ADA-FB9396EC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582700-A1DC-4F38-ACA8-9DE8B25F6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58D338-79FC-478B-9586-7BF27A9F3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FBB4E-12B2-4AAD-877E-E1EF2ABD4A04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191C61-CD81-4379-907C-C39B48DC3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FF81EE-D709-4FC0-A044-60E7D94034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30869-DB3A-4095-B957-CA9C58990C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21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70A8240-F6C9-480D-8BEE-937C5908B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0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FF9DD9-6B9E-4F56-9E7F-96CD0FB80D0B}"/>
              </a:ext>
            </a:extLst>
          </p:cNvPr>
          <p:cNvSpPr txBox="1"/>
          <p:nvPr/>
        </p:nvSpPr>
        <p:spPr>
          <a:xfrm>
            <a:off x="809262" y="884482"/>
            <a:ext cx="808606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  <a:ea typeface="휴먼모음T" panose="02030504000101010101" pitchFamily="18" charset="-127"/>
              </a:rPr>
              <a:t>폭발적으로 증가하는 </a:t>
            </a:r>
            <a:r>
              <a:rPr lang="ko-KR" altLang="en-US" sz="3200" dirty="0">
                <a:highlight>
                  <a:srgbClr val="FFFF00"/>
                </a:highlight>
                <a:latin typeface="+mj-lt"/>
                <a:ea typeface="휴먼모음T" panose="02030504000101010101" pitchFamily="18" charset="-127"/>
              </a:rPr>
              <a:t>데이터센터 수요 증가</a:t>
            </a:r>
            <a:r>
              <a:rPr lang="ko-KR" altLang="en-US" sz="3200" dirty="0">
                <a:latin typeface="+mj-lt"/>
                <a:ea typeface="휴먼모음T" panose="02030504000101010101" pitchFamily="18" charset="-127"/>
              </a:rPr>
              <a:t>와</a:t>
            </a:r>
            <a:r>
              <a:rPr lang="en-US" altLang="ko-KR" sz="3200" dirty="0">
                <a:latin typeface="+mj-lt"/>
                <a:ea typeface="휴먼모음T" panose="02030504000101010101" pitchFamily="18" charset="-127"/>
              </a:rPr>
              <a:t>,</a:t>
            </a:r>
          </a:p>
          <a:p>
            <a:r>
              <a:rPr lang="ko-KR" altLang="en-US" sz="800" dirty="0">
                <a:latin typeface="+mj-lt"/>
                <a:ea typeface="휴먼모음T" panose="02030504000101010101" pitchFamily="18" charset="-127"/>
              </a:rPr>
              <a:t> </a:t>
            </a:r>
            <a:endParaRPr lang="en-US" altLang="ko-KR" sz="800" dirty="0">
              <a:latin typeface="+mj-lt"/>
              <a:ea typeface="휴먼모음T" panose="02030504000101010101" pitchFamily="18" charset="-127"/>
            </a:endParaRPr>
          </a:p>
          <a:p>
            <a:r>
              <a:rPr lang="ko-KR" altLang="en-US" sz="3200" dirty="0">
                <a:latin typeface="+mj-lt"/>
                <a:ea typeface="휴먼모음T" panose="02030504000101010101" pitchFamily="18" charset="-127"/>
              </a:rPr>
              <a:t>그에 따른 </a:t>
            </a:r>
            <a:r>
              <a:rPr lang="ko-KR" altLang="en-US" sz="3200" dirty="0">
                <a:highlight>
                  <a:srgbClr val="FFFF00"/>
                </a:highlight>
                <a:latin typeface="+mj-lt"/>
                <a:ea typeface="휴먼모음T" panose="02030504000101010101" pitchFamily="18" charset="-127"/>
              </a:rPr>
              <a:t>전력 수요 증가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00D8D5-D211-44E4-899A-4CBC62771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62" y="2410094"/>
            <a:ext cx="5708139" cy="37603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03DA7D-C401-4FD4-89DB-338FFD16F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425" y="2289773"/>
            <a:ext cx="3428494" cy="3958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44DA037-10B9-4FAE-ABE3-A04787FD7816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4E8D85-B7A5-4B8B-A871-FCCB2D257763}"/>
              </a:ext>
            </a:extLst>
          </p:cNvPr>
          <p:cNvSpPr txBox="1"/>
          <p:nvPr/>
        </p:nvSpPr>
        <p:spPr>
          <a:xfrm>
            <a:off x="267789" y="111033"/>
            <a:ext cx="182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Back Ground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82573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FF9CCD-D4BC-4210-BC71-24B7E247195E}"/>
              </a:ext>
            </a:extLst>
          </p:cNvPr>
          <p:cNvSpPr txBox="1"/>
          <p:nvPr/>
        </p:nvSpPr>
        <p:spPr>
          <a:xfrm>
            <a:off x="267789" y="111033"/>
            <a:ext cx="49769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Back Ground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E9B92D-E5FE-469D-A5A3-5080C8527ED6}"/>
              </a:ext>
            </a:extLst>
          </p:cNvPr>
          <p:cNvSpPr txBox="1"/>
          <p:nvPr/>
        </p:nvSpPr>
        <p:spPr>
          <a:xfrm>
            <a:off x="325661" y="1403456"/>
            <a:ext cx="4324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Why </a:t>
            </a:r>
            <a:r>
              <a:rPr lang="en-US" altLang="ko-KR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Jeju</a:t>
            </a:r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for Distributed Data Centers?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7EB0DBB-7C4B-4937-B9CE-54C96A52D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9" y="1980332"/>
            <a:ext cx="5577002" cy="371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1A48DA-3F95-438D-BF1C-6C6D9D593CBB}"/>
              </a:ext>
            </a:extLst>
          </p:cNvPr>
          <p:cNvSpPr txBox="1"/>
          <p:nvPr/>
        </p:nvSpPr>
        <p:spPr>
          <a:xfrm>
            <a:off x="325661" y="716759"/>
            <a:ext cx="5824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왜 제주도인가</a:t>
            </a:r>
            <a:r>
              <a:rPr lang="en-US" altLang="ko-KR" sz="3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?</a:t>
            </a:r>
            <a:endParaRPr lang="ko-KR" alt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29F6D75-07F8-4F0C-A033-3EA54110A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840" y="1873914"/>
            <a:ext cx="5577002" cy="268401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74FAFE9E-29E0-420F-BCBD-80BDD5E01E4D}"/>
              </a:ext>
            </a:extLst>
          </p:cNvPr>
          <p:cNvGrpSpPr/>
          <p:nvPr/>
        </p:nvGrpSpPr>
        <p:grpSpPr>
          <a:xfrm>
            <a:off x="6008913" y="4846930"/>
            <a:ext cx="5993157" cy="1749817"/>
            <a:chOff x="6096000" y="4984086"/>
            <a:chExt cx="5828211" cy="1749817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14A0D29-3B17-491A-B899-DF50A99E3513}"/>
                </a:ext>
              </a:extLst>
            </p:cNvPr>
            <p:cNvSpPr/>
            <p:nvPr/>
          </p:nvSpPr>
          <p:spPr>
            <a:xfrm>
              <a:off x="6096000" y="4984086"/>
              <a:ext cx="5773783" cy="174981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A22506-A34D-4860-AE7C-F6FF24F823CD}"/>
                </a:ext>
              </a:extLst>
            </p:cNvPr>
            <p:cNvSpPr txBox="1"/>
            <p:nvPr/>
          </p:nvSpPr>
          <p:spPr>
            <a:xfrm>
              <a:off x="6289058" y="5170546"/>
              <a:ext cx="5635153" cy="1361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“</a:t>
              </a:r>
              <a:r>
                <a:rPr lang="ko-KR" altLang="en-US" sz="20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제주도는 재생에너지가 풍부하지만</a:t>
              </a:r>
              <a:r>
                <a:rPr lang="en-US" altLang="ko-KR" sz="20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, </a:t>
              </a:r>
            </a:p>
            <a:p>
              <a:r>
                <a:rPr lang="ko-KR" altLang="en-US" sz="20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이를 효율적으로 활용할 인프라가 필요한 지역입니다</a:t>
              </a:r>
              <a:r>
                <a:rPr lang="en-US" altLang="ko-KR" sz="20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.”</a:t>
              </a:r>
            </a:p>
            <a:p>
              <a:endParaRPr lang="en-US" altLang="ko-KR" sz="105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r>
                <a:rPr lang="en-US" altLang="ko-KR" sz="1600" dirty="0" err="1">
                  <a:latin typeface="휴먼모음T" panose="02030504000101010101" pitchFamily="18" charset="-127"/>
                  <a:ea typeface="휴먼모음T" panose="02030504000101010101" pitchFamily="18" charset="-127"/>
                </a:rPr>
                <a:t>Jeju</a:t>
              </a:r>
              <a:r>
                <a:rPr lang="en-US" altLang="ko-KR" sz="1600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 has abundant renewable energy, but lacks infrastructure to fully utilize it.</a:t>
              </a:r>
              <a:endParaRPr lang="ko-KR" altLang="en-US" sz="1600" dirty="0"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4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506168-CDED-4A3D-97C6-7E7C3B1A5B8D}"/>
              </a:ext>
            </a:extLst>
          </p:cNvPr>
          <p:cNvSpPr txBox="1"/>
          <p:nvPr/>
        </p:nvSpPr>
        <p:spPr>
          <a:xfrm>
            <a:off x="267789" y="111033"/>
            <a:ext cx="2854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Objective / Solution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B3B708-B023-43CD-B4F8-7C0B8A8A9541}"/>
              </a:ext>
            </a:extLst>
          </p:cNvPr>
          <p:cNvSpPr txBox="1"/>
          <p:nvPr/>
        </p:nvSpPr>
        <p:spPr>
          <a:xfrm>
            <a:off x="267790" y="692333"/>
            <a:ext cx="3631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Service</a:t>
            </a:r>
            <a:r>
              <a:rPr lang="ko-KR" altLang="en-US" sz="3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3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Concept</a:t>
            </a:r>
            <a:endParaRPr lang="ko-KR" altLang="en-US" sz="3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46B5D-30B8-48C4-95DB-6F08DD2D297B}"/>
              </a:ext>
            </a:extLst>
          </p:cNvPr>
          <p:cNvSpPr txBox="1"/>
          <p:nvPr/>
        </p:nvSpPr>
        <p:spPr>
          <a:xfrm>
            <a:off x="267789" y="1390919"/>
            <a:ext cx="67318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위성 데이터를 기반으로 제주 지역에 분산 데이터센터의 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최적 배치 전략을 제안하는 서비스입니다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  <a:p>
            <a:endParaRPr lang="en-US" altLang="ko-KR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A satellite-driven service that supports optimal deployment strategies</a:t>
            </a:r>
          </a:p>
          <a:p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for distributed data centers in </a:t>
            </a:r>
            <a:r>
              <a:rPr lang="en-US" altLang="ko-KR" sz="16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Jeju</a:t>
            </a:r>
            <a:r>
              <a:rPr lang="en-US" altLang="ko-KR" sz="16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16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3540B9-A5CD-4019-AB41-45A009D97459}"/>
              </a:ext>
            </a:extLst>
          </p:cNvPr>
          <p:cNvSpPr/>
          <p:nvPr/>
        </p:nvSpPr>
        <p:spPr>
          <a:xfrm>
            <a:off x="313504" y="2766613"/>
            <a:ext cx="5290457" cy="369839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D6DEB-EF78-43C5-ABDE-D3DFE1B4A968}"/>
              </a:ext>
            </a:extLst>
          </p:cNvPr>
          <p:cNvSpPr txBox="1"/>
          <p:nvPr/>
        </p:nvSpPr>
        <p:spPr>
          <a:xfrm>
            <a:off x="600891" y="2944121"/>
            <a:ext cx="2465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Key</a:t>
            </a:r>
            <a:r>
              <a:rPr lang="ko-KR" altLang="en-US" sz="2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24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Concepts</a:t>
            </a:r>
          </a:p>
          <a:p>
            <a:endParaRPr lang="ko-KR" altLang="en-US" sz="24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8D0353-6B92-4C32-838D-76ECC3B73680}"/>
              </a:ext>
            </a:extLst>
          </p:cNvPr>
          <p:cNvGrpSpPr/>
          <p:nvPr/>
        </p:nvGrpSpPr>
        <p:grpSpPr>
          <a:xfrm>
            <a:off x="600891" y="3465310"/>
            <a:ext cx="4617720" cy="646331"/>
            <a:chOff x="600891" y="3337560"/>
            <a:chExt cx="4617720" cy="646331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0D5B563-6335-4E3B-80D4-2090C6621D26}"/>
                </a:ext>
              </a:extLst>
            </p:cNvPr>
            <p:cNvSpPr/>
            <p:nvPr/>
          </p:nvSpPr>
          <p:spPr>
            <a:xfrm>
              <a:off x="600891" y="3337560"/>
              <a:ext cx="4617720" cy="646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390130-7505-4F76-996F-701D46214D40}"/>
                </a:ext>
              </a:extLst>
            </p:cNvPr>
            <p:cNvSpPr txBox="1"/>
            <p:nvPr/>
          </p:nvSpPr>
          <p:spPr>
            <a:xfrm>
              <a:off x="1610185" y="3387142"/>
              <a:ext cx="3055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분산 구조의 아키텍처</a:t>
              </a:r>
              <a:endParaRPr lang="en-US" altLang="ko-KR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r>
                <a:rPr lang="en-US" altLang="ko-KR" sz="14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Distributed, not centralized</a:t>
              </a:r>
              <a:endParaRPr lang="ko-KR" altLang="en-US" sz="14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0B9CA04-686F-4577-9140-642DABDC9F53}"/>
              </a:ext>
            </a:extLst>
          </p:cNvPr>
          <p:cNvGrpSpPr/>
          <p:nvPr/>
        </p:nvGrpSpPr>
        <p:grpSpPr>
          <a:xfrm>
            <a:off x="600891" y="4194625"/>
            <a:ext cx="4617720" cy="646331"/>
            <a:chOff x="600891" y="3337560"/>
            <a:chExt cx="4617720" cy="646331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C1571BF-5AE5-4DF5-AE25-81E5E8770737}"/>
                </a:ext>
              </a:extLst>
            </p:cNvPr>
            <p:cNvSpPr/>
            <p:nvPr/>
          </p:nvSpPr>
          <p:spPr>
            <a:xfrm>
              <a:off x="600891" y="3337560"/>
              <a:ext cx="4617720" cy="646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1D350C-3609-497A-AF49-C74E0277BE90}"/>
                </a:ext>
              </a:extLst>
            </p:cNvPr>
            <p:cNvSpPr txBox="1"/>
            <p:nvPr/>
          </p:nvSpPr>
          <p:spPr>
            <a:xfrm>
              <a:off x="1610185" y="3387142"/>
              <a:ext cx="3055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회복 탄력성 설계 중심</a:t>
              </a:r>
              <a:endParaRPr lang="en-US" altLang="ko-KR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r>
                <a:rPr lang="en-US" altLang="ko-KR" sz="1400" dirty="0"/>
                <a:t>Resilience-oriented planning</a:t>
              </a:r>
              <a:endParaRPr lang="ko-KR" altLang="en-US" sz="14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6AEB846-3239-4BBC-B54D-CA5E45114747}"/>
              </a:ext>
            </a:extLst>
          </p:cNvPr>
          <p:cNvGrpSpPr/>
          <p:nvPr/>
        </p:nvGrpSpPr>
        <p:grpSpPr>
          <a:xfrm>
            <a:off x="600891" y="4890538"/>
            <a:ext cx="4617720" cy="646331"/>
            <a:chOff x="600891" y="3337560"/>
            <a:chExt cx="4617720" cy="646331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5EC332B-EFF0-406E-982F-729370E9EC01}"/>
                </a:ext>
              </a:extLst>
            </p:cNvPr>
            <p:cNvSpPr/>
            <p:nvPr/>
          </p:nvSpPr>
          <p:spPr>
            <a:xfrm>
              <a:off x="600891" y="3337560"/>
              <a:ext cx="4617720" cy="646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5303FB-8CF9-4912-BFEB-7010C25480A2}"/>
                </a:ext>
              </a:extLst>
            </p:cNvPr>
            <p:cNvSpPr txBox="1"/>
            <p:nvPr/>
          </p:nvSpPr>
          <p:spPr>
            <a:xfrm>
              <a:off x="1610185" y="3387142"/>
              <a:ext cx="3055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재생에너지 최적화 배치</a:t>
              </a:r>
              <a:endParaRPr lang="en-US" altLang="ko-KR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r>
                <a:rPr lang="en-US" altLang="ko-KR" sz="14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Renewable-aware deployment</a:t>
              </a:r>
              <a:endParaRPr lang="ko-KR" altLang="en-US" sz="14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403685A-E95D-4633-A469-5FE59E837F76}"/>
              </a:ext>
            </a:extLst>
          </p:cNvPr>
          <p:cNvGrpSpPr/>
          <p:nvPr/>
        </p:nvGrpSpPr>
        <p:grpSpPr>
          <a:xfrm>
            <a:off x="600891" y="5620312"/>
            <a:ext cx="4617720" cy="646331"/>
            <a:chOff x="600891" y="3337560"/>
            <a:chExt cx="4617720" cy="646331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364B36CA-5AED-40F9-A52D-81C8B48528C1}"/>
                </a:ext>
              </a:extLst>
            </p:cNvPr>
            <p:cNvSpPr/>
            <p:nvPr/>
          </p:nvSpPr>
          <p:spPr>
            <a:xfrm>
              <a:off x="600891" y="3337560"/>
              <a:ext cx="4617720" cy="64633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E388E98-AC27-4AC3-B6E5-748607C13D58}"/>
                </a:ext>
              </a:extLst>
            </p:cNvPr>
            <p:cNvSpPr txBox="1"/>
            <p:nvPr/>
          </p:nvSpPr>
          <p:spPr>
            <a:xfrm>
              <a:off x="1610185" y="3387142"/>
              <a:ext cx="3055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휴먼모음T" panose="02030504000101010101" pitchFamily="18" charset="-127"/>
                  <a:ea typeface="휴먼모음T" panose="02030504000101010101" pitchFamily="18" charset="-127"/>
                </a:rPr>
                <a:t>위성데이터 기반 의사결정</a:t>
              </a:r>
              <a:endParaRPr lang="en-US" altLang="ko-KR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  <a:p>
              <a:r>
                <a:rPr lang="en-US" altLang="ko-KR" sz="1400" dirty="0" err="1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Satelite</a:t>
              </a:r>
              <a:r>
                <a:rPr lang="en-US" altLang="ko-KR" sz="1400" dirty="0">
                  <a:solidFill>
                    <a:schemeClr val="tx1"/>
                  </a:solidFill>
                  <a:latin typeface="휴먼모음T" panose="02030504000101010101" pitchFamily="18" charset="-127"/>
                  <a:ea typeface="휴먼모음T" panose="02030504000101010101" pitchFamily="18" charset="-127"/>
                </a:rPr>
                <a:t>-based decision making</a:t>
              </a:r>
              <a:endParaRPr lang="ko-KR" altLang="en-US" sz="1400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5D0393A-62D6-4916-B373-1EB29A70FB64}"/>
              </a:ext>
            </a:extLst>
          </p:cNvPr>
          <p:cNvSpPr txBox="1"/>
          <p:nvPr/>
        </p:nvSpPr>
        <p:spPr>
          <a:xfrm>
            <a:off x="6588041" y="2664327"/>
            <a:ext cx="499056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What makes it different?</a:t>
            </a:r>
          </a:p>
          <a:p>
            <a:endParaRPr lang="en-US" altLang="ko-KR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Single best location </a:t>
            </a:r>
            <a:r>
              <a:rPr lang="en-US" altLang="ko-KR" dirty="0">
                <a:solidFill>
                  <a:srgbClr val="FF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</a:t>
            </a:r>
          </a:p>
          <a:p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Optimal node combinations </a:t>
            </a:r>
            <a:r>
              <a:rPr lang="en-US" altLang="ko-KR" dirty="0">
                <a:solidFill>
                  <a:schemeClr val="accent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O</a:t>
            </a:r>
          </a:p>
          <a:p>
            <a:endParaRPr lang="en-US" altLang="ko-KR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We move from finding the best location to desiring the best combination</a:t>
            </a:r>
          </a:p>
          <a:p>
            <a:endParaRPr lang="en-US" altLang="ko-KR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최고의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단일 입지 찾기에서</a:t>
            </a:r>
            <a:endParaRPr lang="en-US" altLang="ko-KR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→ 최고의 입지 조합 설계로 이동합니다</a:t>
            </a:r>
            <a:r>
              <a:rPr lang="en-US" altLang="ko-KR" sz="20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sz="2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CF4C71-17EA-45BE-B4B6-EAA73A0CF44F}"/>
              </a:ext>
            </a:extLst>
          </p:cNvPr>
          <p:cNvSpPr txBox="1"/>
          <p:nvPr/>
        </p:nvSpPr>
        <p:spPr>
          <a:xfrm>
            <a:off x="6574003" y="5308277"/>
            <a:ext cx="4758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Benefits of Distributed Data Centers</a:t>
            </a:r>
            <a:endParaRPr lang="ko-KR" altLang="en-US" sz="2000" b="1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F598E4-83F9-4499-BA1E-29D64901511A}"/>
              </a:ext>
            </a:extLst>
          </p:cNvPr>
          <p:cNvSpPr txBox="1"/>
          <p:nvPr/>
        </p:nvSpPr>
        <p:spPr>
          <a:xfrm>
            <a:off x="6562287" y="5761980"/>
            <a:ext cx="894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향상된 </a:t>
            </a:r>
            <a:endParaRPr lang="en-US" altLang="ko-KR" dirty="0"/>
          </a:p>
          <a:p>
            <a:r>
              <a:rPr lang="ko-KR" altLang="en-US" dirty="0"/>
              <a:t>안정성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D4CD09-F65E-45EF-99D6-D648D1C850BE}"/>
              </a:ext>
            </a:extLst>
          </p:cNvPr>
          <p:cNvSpPr txBox="1"/>
          <p:nvPr/>
        </p:nvSpPr>
        <p:spPr>
          <a:xfrm>
            <a:off x="7995557" y="5761980"/>
            <a:ext cx="142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재생에너지 활용 최적화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824168-D142-4C54-8C9F-C972578563BD}"/>
              </a:ext>
            </a:extLst>
          </p:cNvPr>
          <p:cNvSpPr txBox="1"/>
          <p:nvPr/>
        </p:nvSpPr>
        <p:spPr>
          <a:xfrm>
            <a:off x="9808755" y="5818672"/>
            <a:ext cx="142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재난 대응력 강화</a:t>
            </a:r>
          </a:p>
        </p:txBody>
      </p:sp>
    </p:spTree>
    <p:extLst>
      <p:ext uri="{BB962C8B-B14F-4D97-AF65-F5344CB8AC3E}">
        <p14:creationId xmlns:p14="http://schemas.microsoft.com/office/powerpoint/2010/main" val="131858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3948072-A154-462F-B681-1747262E9B60}"/>
              </a:ext>
            </a:extLst>
          </p:cNvPr>
          <p:cNvSpPr txBox="1"/>
          <p:nvPr/>
        </p:nvSpPr>
        <p:spPr>
          <a:xfrm>
            <a:off x="267789" y="111033"/>
            <a:ext cx="182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Service Flow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EACD20-0747-4509-B347-38D0ED1DF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455" y="960205"/>
            <a:ext cx="8080688" cy="538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3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>
            <a:off x="176350" y="587826"/>
            <a:ext cx="1084217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3855B6D6-D490-4A65-A6B3-C08BF1E80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439" y="664510"/>
            <a:ext cx="8740140" cy="5826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DB20ED-BF2A-451F-92A1-34BED857E961}"/>
              </a:ext>
            </a:extLst>
          </p:cNvPr>
          <p:cNvSpPr txBox="1"/>
          <p:nvPr/>
        </p:nvSpPr>
        <p:spPr>
          <a:xfrm>
            <a:off x="267789" y="111033"/>
            <a:ext cx="318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Architecture Framework</a:t>
            </a:r>
          </a:p>
        </p:txBody>
      </p:sp>
    </p:spTree>
    <p:extLst>
      <p:ext uri="{BB962C8B-B14F-4D97-AF65-F5344CB8AC3E}">
        <p14:creationId xmlns:p14="http://schemas.microsoft.com/office/powerpoint/2010/main" val="233494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D107B7B-FE33-4B05-9CC5-B3E497CDB168}"/>
              </a:ext>
            </a:extLst>
          </p:cNvPr>
          <p:cNvSpPr txBox="1"/>
          <p:nvPr/>
        </p:nvSpPr>
        <p:spPr>
          <a:xfrm>
            <a:off x="267789" y="111033"/>
            <a:ext cx="182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Data</a:t>
            </a:r>
            <a:endParaRPr lang="ko-KR" altLang="en-US" sz="2000" b="1" dirty="0"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0DBB95-2BD3-43E0-8B36-2EE4089B9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793" y="630584"/>
            <a:ext cx="9028627" cy="601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4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6FDFED-363E-4983-9676-4BC31543AAF9}"/>
              </a:ext>
            </a:extLst>
          </p:cNvPr>
          <p:cNvSpPr txBox="1"/>
          <p:nvPr/>
        </p:nvSpPr>
        <p:spPr>
          <a:xfrm>
            <a:off x="0" y="6465003"/>
            <a:ext cx="376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Jeju</a:t>
            </a:r>
            <a:r>
              <a:rPr lang="ko-KR" altLang="en-US" dirty="0"/>
              <a:t> </a:t>
            </a:r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Global Space-Challenge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BAB577-1408-4B4A-A8C2-8953D1082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614" y="202473"/>
            <a:ext cx="708456" cy="42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5376B6-D8B0-49DF-A78A-E3B6D05505C0}"/>
              </a:ext>
            </a:extLst>
          </p:cNvPr>
          <p:cNvCxnSpPr>
            <a:cxnSpLocks/>
          </p:cNvCxnSpPr>
          <p:nvPr/>
        </p:nvCxnSpPr>
        <p:spPr>
          <a:xfrm flipH="1" flipV="1">
            <a:off x="176350" y="587826"/>
            <a:ext cx="10874830" cy="522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61550A-47B1-47FC-8738-1B8EA06074FC}"/>
              </a:ext>
            </a:extLst>
          </p:cNvPr>
          <p:cNvSpPr txBox="1"/>
          <p:nvPr/>
        </p:nvSpPr>
        <p:spPr>
          <a:xfrm>
            <a:off x="267789" y="111033"/>
            <a:ext cx="1822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Back Ground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107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196</Words>
  <Application>Microsoft Office PowerPoint</Application>
  <PresentationFormat>와이드스크린</PresentationFormat>
  <Paragraphs>52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휴먼모음T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20</cp:revision>
  <dcterms:created xsi:type="dcterms:W3CDTF">2026-01-24T10:15:29Z</dcterms:created>
  <dcterms:modified xsi:type="dcterms:W3CDTF">2026-01-24T15:49:32Z</dcterms:modified>
</cp:coreProperties>
</file>